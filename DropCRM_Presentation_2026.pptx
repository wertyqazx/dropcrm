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Проект DropCRM: интерактивный прототип Figma. Команда: Олег Яковлев и Семён Казанцев. Источники: README и итоговый отчёт репозитория https://github.com/wertyqazx/DropCRM.</a:t>
            </a:r>
            <a:endParaRPr/>
          </a:p>
        </p:txBody>
      </p:sp>
      <p:sp>
        <p:nvSpPr>
          <p:cNvPr id="29" name="Google Shape;29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Текущий результат является учебным интерактивным прототипом, не рабочим сервисом для реальных платежей и заказов. Источник: docs/final-report.md, разделы 1 и 3.</a:t>
            </a:r>
            <a:endParaRPr/>
          </a:p>
        </p:txBody>
      </p:sp>
      <p:sp>
        <p:nvSpPr>
          <p:cNvPr id="43" name="Google Shape;4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Актуальные роли и действия описаны в docs/user-stories/stories.md и docs/user-personas/personas.md.</a:t>
            </a:r>
            <a:endParaRPr/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Последовательность основана на docs/business-rules.md, раздел 3, и docs/user-stories/scenarios.md, UC-D03 и UC-S03.</a:t>
            </a:r>
            <a:endParaRPr/>
          </a:p>
        </p:txBody>
      </p:sp>
      <p:sp>
        <p:nvSpPr>
          <p:cNvPr id="84" name="Google Shape;84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Место для скриншота: frontend/figma-pages/04-marketplace.html или соответствующий экран интерактивного HTML-прототипа. Источник сценария: docs/user-stories/scenarios.md, UC-D01.</a:t>
            </a:r>
            <a:endParaRPr/>
          </a:p>
        </p:txBody>
      </p:sp>
      <p:sp>
        <p:nvSpPr>
          <p:cNvPr id="125" name="Google Shape;12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Правило расчёта: 1890 × 1,25 = 2362,50, отображается 2363 ₽ по правилу округления до рубля. Источник: docs/business-rules.md, разделы 5–6. Место для скриншота: frontend/figma-pages/05-offer.html или 19-modal-markup.html.</a:t>
            </a:r>
            <a:endParaRPr/>
          </a:p>
        </p:txBody>
      </p:sp>
      <p:sp>
        <p:nvSpPr>
          <p:cNvPr id="150" name="Google Shape;15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Сценарий UC-D03; правило оплаты после подтверждения – docs/business-rules.md, BR-06 и BR-09. Место для скриншота: frontend/figma-pages/07-orders.html или 08-order-detail.html.</a:t>
            </a:r>
            <a:endParaRPr/>
          </a:p>
        </p:txBody>
      </p:sp>
      <p:sp>
        <p:nvSpPr>
          <p:cNvPr id="174" name="Google Shape;174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Источник: docs/user-stories/scenarios.md, UC-S03 и docs/business-rules.md. Место для скриншота: frontend/figma-pages/10-supplier-orders.html либо 11-processing.html.</a:t>
            </a:r>
            <a:endParaRPr/>
          </a:p>
        </p:txBody>
      </p:sp>
      <p:sp>
        <p:nvSpPr>
          <p:cNvPr id="198" name="Google Shape;19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9" name="Google Shape;219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Итог 1890 + 250 + 37,80 = 2177,80 ₽. Комиссия 2% от стоимости товара, не от суммы с доставкой. Статус исполнения отделён от статуса оплаты. Источник: docs/business-rules.md, разделы 3–6.</a:t>
            </a:r>
            <a:endParaRPr/>
          </a:p>
        </p:txBody>
      </p:sp>
      <p:sp>
        <p:nvSpPr>
          <p:cNvPr id="220" name="Google Shape;220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Источник: актуальные пользовательские истории и docs/final-report.md. Место для скриншота: frontend/figma-pages/16-participant-detail.html.</a:t>
            </a:r>
            <a:endParaRPr/>
          </a:p>
        </p:txBody>
      </p:sp>
      <p:sp>
        <p:nvSpPr>
          <p:cNvPr id="242" name="Google Shape;242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1" name="Google Shape;261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В учебных данных нет суммы платежей по подпискам; не показывать выдуманную выручку. Источник: docs/final-report.md, раздел 4. Место для скриншота: frontend/figma-pages/15-admin-statistics.html.</a:t>
            </a:r>
            <a:endParaRPr/>
          </a:p>
        </p:txBody>
      </p:sp>
      <p:sp>
        <p:nvSpPr>
          <p:cNvPr id="262" name="Google Shape;262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6" name="Google Shape;286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Источник: docs/final-report.md, раздел 3, и актуальные пользовательские истории. В профиле подписка показана как оплаченная без цены тарифа.</a:t>
            </a:r>
            <a:endParaRPr/>
          </a:p>
        </p:txBody>
      </p:sp>
      <p:sp>
        <p:nvSpPr>
          <p:cNvPr id="287" name="Google Shape;287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0" name="Google Shape;310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Источник: sources/original/DropCRM_TZ.pdf и docs/final-report.md, раздел 3. Не утверждать, что серверные, платёжные и мобильные требования реализованы в прототипе.</a:t>
            </a:r>
            <a:endParaRPr/>
          </a:p>
        </p:txBody>
      </p:sp>
      <p:sp>
        <p:nvSpPr>
          <p:cNvPr id="311" name="Google Shape;311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8" name="Google Shape;328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Источники: материалы репозитория DropCRM; README содержит ссылки на ТЗ, персоны, истории, UML, вайрфреймы и Figma.</a:t>
            </a:r>
            <a:endParaRPr/>
          </a:p>
        </p:txBody>
      </p:sp>
      <p:sp>
        <p:nvSpPr>
          <p:cNvPr id="329" name="Google Shape;329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6" name="Google Shape;356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Олег показал макет своим родителям. Это качественное наблюдение, не формальный тест: задач, времени и цитат не фиксировали. Отсутствие клика при свободном просмотре не означает невозможность выполнить задачу по просьбе. Источник: docs/usability-testing.md.</a:t>
            </a:r>
            <a:endParaRPr/>
          </a:p>
        </p:txBody>
      </p:sp>
      <p:sp>
        <p:nvSpPr>
          <p:cNvPr id="357" name="Google Shape;357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6" name="Google Shape;376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Распределение работ согласовано с пользователем и отражено в README и docs/final-report.md.</a:t>
            </a:r>
            <a:endParaRPr/>
          </a:p>
        </p:txBody>
      </p:sp>
      <p:sp>
        <p:nvSpPr>
          <p:cNvPr id="377" name="Google Shape;377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3" name="Google Shape;393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Прототип: https://www.figma.com/design/ui5uMhLfFbQ5jKOqUXEPTE/DropCRM?node-id=22-2745. Репозиторий: https://github.com/wertyqazx/DropCRM. Текущий макет не является рабочей платформой для реальных платежей и заказов.</a:t>
            </a:r>
            <a:endParaRPr/>
          </a:p>
        </p:txBody>
      </p:sp>
      <p:sp>
        <p:nvSpPr>
          <p:cNvPr id="394" name="Google Shape;394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sz="4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b="1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5"/>
          <p:cNvSpPr txBox="1"/>
          <p:nvPr>
            <p:ph idx="1" type="body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71475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1475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1475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71475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71475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71475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71475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71475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71475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">
  <p:cSld name="Title and Two Column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6"/>
          <p:cNvSpPr txBox="1"/>
          <p:nvPr>
            <p:ph idx="1" type="body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619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195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195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6195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6195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6195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6195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6195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6"/>
          <p:cNvSpPr txBox="1"/>
          <p:nvPr>
            <p:ph idx="2" type="body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6195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6195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195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6195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6195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6195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6195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6195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">
  <p:cSld name="Title and One Column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1" sz="3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71475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71475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71475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71475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71475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71475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71475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71475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71475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250"/>
              <a:buFont typeface="Arial"/>
              <a:buChar char="•"/>
              <a:defRPr b="0" i="0" sz="2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243C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/>
          <p:nvPr/>
        </p:nvSpPr>
        <p:spPr>
          <a:xfrm>
            <a:off x="685800" y="542925"/>
            <a:ext cx="17335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25">
                <a:solidFill>
                  <a:srgbClr val="FFFFFF"/>
                </a:solidFill>
              </a:rPr>
              <a:t>drop</a:t>
            </a:r>
            <a:endParaRPr/>
          </a:p>
        </p:txBody>
      </p:sp>
      <p:sp>
        <p:nvSpPr>
          <p:cNvPr id="32" name="Google Shape;32;p8"/>
          <p:cNvSpPr/>
          <p:nvPr/>
        </p:nvSpPr>
        <p:spPr>
          <a:xfrm>
            <a:off x="1895475" y="542963"/>
            <a:ext cx="1562100" cy="6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25">
                <a:solidFill>
                  <a:srgbClr val="8BA7FF"/>
                </a:solidFill>
              </a:rPr>
              <a:t>crm</a:t>
            </a:r>
            <a:endParaRPr/>
          </a:p>
        </p:txBody>
      </p:sp>
      <p:sp>
        <p:nvSpPr>
          <p:cNvPr id="33" name="Google Shape;33;p8"/>
          <p:cNvSpPr/>
          <p:nvPr/>
        </p:nvSpPr>
        <p:spPr>
          <a:xfrm>
            <a:off x="685800" y="1438275"/>
            <a:ext cx="10820400" cy="19050"/>
          </a:xfrm>
          <a:prstGeom prst="rect">
            <a:avLst/>
          </a:prstGeom>
          <a:solidFill>
            <a:srgbClr val="4051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8"/>
          <p:cNvSpPr/>
          <p:nvPr/>
        </p:nvSpPr>
        <p:spPr>
          <a:xfrm>
            <a:off x="685800" y="2000250"/>
            <a:ext cx="7239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50">
                <a:solidFill>
                  <a:srgbClr val="FFFFFF"/>
                </a:solidFill>
              </a:rPr>
              <a:t>DropCRM</a:t>
            </a:r>
            <a:endParaRPr/>
          </a:p>
        </p:txBody>
      </p:sp>
      <p:sp>
        <p:nvSpPr>
          <p:cNvPr id="35" name="Google Shape;35;p8"/>
          <p:cNvSpPr/>
          <p:nvPr/>
        </p:nvSpPr>
        <p:spPr>
          <a:xfrm>
            <a:off x="685800" y="3000375"/>
            <a:ext cx="7762875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25">
                <a:solidFill>
                  <a:srgbClr val="DBE3F3"/>
                </a:solidFill>
              </a:rPr>
              <a:t>Интерактивный прототип сервиса для дропшипперов и поставщиков</a:t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685800" y="4352925"/>
            <a:ext cx="1209675" cy="57150"/>
          </a:xfrm>
          <a:prstGeom prst="rect">
            <a:avLst/>
          </a:prstGeom>
          <a:solidFill>
            <a:srgbClr val="285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8"/>
          <p:cNvSpPr/>
          <p:nvPr/>
        </p:nvSpPr>
        <p:spPr>
          <a:xfrm>
            <a:off x="685800" y="4572000"/>
            <a:ext cx="7810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AFC2FF"/>
                </a:solidFill>
              </a:rPr>
              <a:t>Каталог · наценка · заказ · исполнение</a:t>
            </a:r>
            <a:endParaRPr/>
          </a:p>
        </p:txBody>
      </p:sp>
      <p:sp>
        <p:nvSpPr>
          <p:cNvPr id="38" name="Google Shape;38;p8"/>
          <p:cNvSpPr/>
          <p:nvPr/>
        </p:nvSpPr>
        <p:spPr>
          <a:xfrm>
            <a:off x="685800" y="6000750"/>
            <a:ext cx="6667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FFFFFF"/>
                </a:solidFill>
              </a:rPr>
              <a:t>Олег Яковлев · Семён Казанцев</a:t>
            </a:r>
            <a:endParaRPr/>
          </a:p>
        </p:txBody>
      </p:sp>
      <p:sp>
        <p:nvSpPr>
          <p:cNvPr id="39" name="Google Shape;39;p8"/>
          <p:cNvSpPr/>
          <p:nvPr/>
        </p:nvSpPr>
        <p:spPr>
          <a:xfrm>
            <a:off x="10382250" y="6000750"/>
            <a:ext cx="11239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99A6BF"/>
                </a:solidFill>
              </a:rPr>
              <a:t>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647700" y="323850"/>
            <a:ext cx="7239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8243C"/>
                </a:solidFill>
              </a:rPr>
              <a:t>drop</a:t>
            </a:r>
            <a:endParaRPr/>
          </a:p>
        </p:txBody>
      </p:sp>
      <p:sp>
        <p:nvSpPr>
          <p:cNvPr id="46" name="Google Shape;46;p9"/>
          <p:cNvSpPr/>
          <p:nvPr/>
        </p:nvSpPr>
        <p:spPr>
          <a:xfrm>
            <a:off x="1194000" y="323888"/>
            <a:ext cx="666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285BEB"/>
                </a:solidFill>
              </a:rPr>
              <a:t>crm</a:t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>
            <a:off x="647700" y="742950"/>
            <a:ext cx="10896600" cy="19050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/>
          <p:nvPr/>
        </p:nvSpPr>
        <p:spPr>
          <a:xfrm>
            <a:off x="647700" y="962025"/>
            <a:ext cx="3048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85BEB"/>
                </a:solidFill>
              </a:rPr>
              <a:t>ПРОДУКТ</a:t>
            </a:r>
            <a:endParaRPr/>
          </a:p>
        </p:txBody>
      </p:sp>
      <p:sp>
        <p:nvSpPr>
          <p:cNvPr id="49" name="Google Shape;49;p9"/>
          <p:cNvSpPr/>
          <p:nvPr/>
        </p:nvSpPr>
        <p:spPr>
          <a:xfrm>
            <a:off x="647700" y="1285875"/>
            <a:ext cx="105727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18243C"/>
                </a:solidFill>
              </a:rPr>
              <a:t>Что такое DropCRM</a:t>
            </a:r>
            <a:endParaRPr/>
          </a:p>
        </p:txBody>
      </p:sp>
      <p:sp>
        <p:nvSpPr>
          <p:cNvPr id="50" name="Google Shape;50;p9"/>
          <p:cNvSpPr/>
          <p:nvPr/>
        </p:nvSpPr>
        <p:spPr>
          <a:xfrm>
            <a:off x="647700" y="6134100"/>
            <a:ext cx="10896600" cy="19050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9"/>
          <p:cNvSpPr/>
          <p:nvPr/>
        </p:nvSpPr>
        <p:spPr>
          <a:xfrm>
            <a:off x="11049000" y="62865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738096"/>
                </a:solidFill>
              </a:rPr>
              <a:t>02</a:t>
            </a:r>
            <a:endParaRPr/>
          </a:p>
        </p:txBody>
      </p:sp>
      <p:sp>
        <p:nvSpPr>
          <p:cNvPr id="52" name="Google Shape;52;p9"/>
          <p:cNvSpPr/>
          <p:nvPr/>
        </p:nvSpPr>
        <p:spPr>
          <a:xfrm>
            <a:off x="647700" y="2286000"/>
            <a:ext cx="5334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85BEB"/>
                </a:solidFill>
              </a:rPr>
              <a:t>Единое рабочее пространство</a:t>
            </a:r>
            <a:endParaRPr/>
          </a:p>
        </p:txBody>
      </p:sp>
      <p:sp>
        <p:nvSpPr>
          <p:cNvPr id="53" name="Google Shape;53;p9"/>
          <p:cNvSpPr/>
          <p:nvPr/>
        </p:nvSpPr>
        <p:spPr>
          <a:xfrm>
            <a:off x="647700" y="3028950"/>
            <a:ext cx="51435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18243C"/>
                </a:solidFill>
              </a:rPr>
              <a:t>Поставщик размещает предложения. Дропшиппер выбирает товар, задаёт свою наценку и передаёт заказ. Обе стороны видят, что происходит дальше.</a:t>
            </a:r>
            <a:endParaRPr/>
          </a:p>
        </p:txBody>
      </p:sp>
      <p:sp>
        <p:nvSpPr>
          <p:cNvPr id="54" name="Google Shape;54;p9"/>
          <p:cNvSpPr/>
          <p:nvPr/>
        </p:nvSpPr>
        <p:spPr>
          <a:xfrm>
            <a:off x="6572250" y="2190750"/>
            <a:ext cx="19050" cy="3028950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9"/>
          <p:cNvSpPr/>
          <p:nvPr/>
        </p:nvSpPr>
        <p:spPr>
          <a:xfrm>
            <a:off x="7067550" y="2286000"/>
            <a:ext cx="4305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738096"/>
                </a:solidFill>
              </a:rPr>
              <a:t>Главная идея прототипа</a:t>
            </a:r>
            <a:endParaRPr/>
          </a:p>
        </p:txBody>
      </p:sp>
      <p:sp>
        <p:nvSpPr>
          <p:cNvPr id="56" name="Google Shape;56;p9"/>
          <p:cNvSpPr/>
          <p:nvPr/>
        </p:nvSpPr>
        <p:spPr>
          <a:xfrm>
            <a:off x="7067550" y="2886075"/>
            <a:ext cx="4191000" cy="200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8243C"/>
                </a:solidFill>
              </a:rPr>
              <a:t>Один заказ связывает действия трёх ролей: от выбора товара до подтверждения, оплаты и отправления.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/>
          <p:nvPr/>
        </p:nvSpPr>
        <p:spPr>
          <a:xfrm>
            <a:off x="647700" y="742950"/>
            <a:ext cx="10896600" cy="19050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0"/>
          <p:cNvSpPr/>
          <p:nvPr/>
        </p:nvSpPr>
        <p:spPr>
          <a:xfrm>
            <a:off x="647700" y="962025"/>
            <a:ext cx="3048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85BEB"/>
                </a:solidFill>
              </a:rPr>
              <a:t>ПРОДУКТ</a:t>
            </a:r>
            <a:endParaRPr/>
          </a:p>
        </p:txBody>
      </p:sp>
      <p:sp>
        <p:nvSpPr>
          <p:cNvPr id="64" name="Google Shape;64;p10"/>
          <p:cNvSpPr/>
          <p:nvPr/>
        </p:nvSpPr>
        <p:spPr>
          <a:xfrm>
            <a:off x="647700" y="1285875"/>
            <a:ext cx="105727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18243C"/>
                </a:solidFill>
              </a:rPr>
              <a:t>Три роли в одном процессе</a:t>
            </a:r>
            <a:endParaRPr/>
          </a:p>
        </p:txBody>
      </p:sp>
      <p:sp>
        <p:nvSpPr>
          <p:cNvPr id="65" name="Google Shape;65;p10"/>
          <p:cNvSpPr/>
          <p:nvPr/>
        </p:nvSpPr>
        <p:spPr>
          <a:xfrm>
            <a:off x="647700" y="6134100"/>
            <a:ext cx="10896600" cy="19050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0"/>
          <p:cNvSpPr/>
          <p:nvPr/>
        </p:nvSpPr>
        <p:spPr>
          <a:xfrm>
            <a:off x="11049000" y="62865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738096"/>
                </a:solidFill>
              </a:rPr>
              <a:t>03</a:t>
            </a:r>
            <a:endParaRPr/>
          </a:p>
        </p:txBody>
      </p:sp>
      <p:sp>
        <p:nvSpPr>
          <p:cNvPr id="67" name="Google Shape;67;p10"/>
          <p:cNvSpPr/>
          <p:nvPr/>
        </p:nvSpPr>
        <p:spPr>
          <a:xfrm>
            <a:off x="647700" y="2305050"/>
            <a:ext cx="6858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85BEB"/>
                </a:solidFill>
              </a:rPr>
              <a:t>01</a:t>
            </a:r>
            <a:endParaRPr/>
          </a:p>
        </p:txBody>
      </p:sp>
      <p:sp>
        <p:nvSpPr>
          <p:cNvPr id="68" name="Google Shape;68;p10"/>
          <p:cNvSpPr/>
          <p:nvPr/>
        </p:nvSpPr>
        <p:spPr>
          <a:xfrm>
            <a:off x="647700" y="2876550"/>
            <a:ext cx="3105150" cy="38100"/>
          </a:xfrm>
          <a:prstGeom prst="rect">
            <a:avLst/>
          </a:prstGeom>
          <a:solidFill>
            <a:srgbClr val="285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0"/>
          <p:cNvSpPr/>
          <p:nvPr/>
        </p:nvSpPr>
        <p:spPr>
          <a:xfrm>
            <a:off x="647700" y="3105150"/>
            <a:ext cx="32385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8243C"/>
                </a:solidFill>
              </a:rPr>
              <a:t>Дропшиппер</a:t>
            </a:r>
            <a:endParaRPr/>
          </a:p>
        </p:txBody>
      </p:sp>
      <p:sp>
        <p:nvSpPr>
          <p:cNvPr id="70" name="Google Shape;70;p10"/>
          <p:cNvSpPr/>
          <p:nvPr/>
        </p:nvSpPr>
        <p:spPr>
          <a:xfrm>
            <a:off x="647700" y="3752850"/>
            <a:ext cx="3257550" cy="1466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8243C"/>
                </a:solidFill>
              </a:rPr>
              <a:t>Ищет предложение, формирует розничную цену, оформляет и отслеживает заказ.</a:t>
            </a:r>
            <a:endParaRPr/>
          </a:p>
        </p:txBody>
      </p:sp>
      <p:sp>
        <p:nvSpPr>
          <p:cNvPr id="71" name="Google Shape;71;p10"/>
          <p:cNvSpPr/>
          <p:nvPr/>
        </p:nvSpPr>
        <p:spPr>
          <a:xfrm>
            <a:off x="4457700" y="2305050"/>
            <a:ext cx="6858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85BEB"/>
                </a:solidFill>
              </a:rPr>
              <a:t>02</a:t>
            </a:r>
            <a:endParaRPr/>
          </a:p>
        </p:txBody>
      </p:sp>
      <p:sp>
        <p:nvSpPr>
          <p:cNvPr id="72" name="Google Shape;72;p10"/>
          <p:cNvSpPr/>
          <p:nvPr/>
        </p:nvSpPr>
        <p:spPr>
          <a:xfrm>
            <a:off x="4457700" y="2876550"/>
            <a:ext cx="3105150" cy="38100"/>
          </a:xfrm>
          <a:prstGeom prst="rect">
            <a:avLst/>
          </a:prstGeom>
          <a:solidFill>
            <a:srgbClr val="285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0"/>
          <p:cNvSpPr/>
          <p:nvPr/>
        </p:nvSpPr>
        <p:spPr>
          <a:xfrm>
            <a:off x="4457700" y="3105150"/>
            <a:ext cx="32385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8243C"/>
                </a:solidFill>
              </a:rPr>
              <a:t>Поставщик</a:t>
            </a:r>
            <a:endParaRPr/>
          </a:p>
        </p:txBody>
      </p:sp>
      <p:sp>
        <p:nvSpPr>
          <p:cNvPr id="74" name="Google Shape;74;p10"/>
          <p:cNvSpPr/>
          <p:nvPr/>
        </p:nvSpPr>
        <p:spPr>
          <a:xfrm>
            <a:off x="4457700" y="3752850"/>
            <a:ext cx="3257550" cy="1466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8243C"/>
                </a:solidFill>
              </a:rPr>
              <a:t>Публикует товары, подтверждает наличие и доставку, передаёт отправление.</a:t>
            </a:r>
            <a:endParaRPr/>
          </a:p>
        </p:txBody>
      </p:sp>
      <p:sp>
        <p:nvSpPr>
          <p:cNvPr id="75" name="Google Shape;75;p10"/>
          <p:cNvSpPr/>
          <p:nvPr/>
        </p:nvSpPr>
        <p:spPr>
          <a:xfrm>
            <a:off x="8267700" y="2305050"/>
            <a:ext cx="6858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285BEB"/>
                </a:solidFill>
              </a:rPr>
              <a:t>03</a:t>
            </a:r>
            <a:endParaRPr/>
          </a:p>
        </p:txBody>
      </p:sp>
      <p:sp>
        <p:nvSpPr>
          <p:cNvPr id="76" name="Google Shape;76;p10"/>
          <p:cNvSpPr/>
          <p:nvPr/>
        </p:nvSpPr>
        <p:spPr>
          <a:xfrm>
            <a:off x="8267700" y="2876550"/>
            <a:ext cx="3105150" cy="38100"/>
          </a:xfrm>
          <a:prstGeom prst="rect">
            <a:avLst/>
          </a:prstGeom>
          <a:solidFill>
            <a:srgbClr val="285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0"/>
          <p:cNvSpPr/>
          <p:nvPr/>
        </p:nvSpPr>
        <p:spPr>
          <a:xfrm>
            <a:off x="8267700" y="3105150"/>
            <a:ext cx="32385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8243C"/>
                </a:solidFill>
              </a:rPr>
              <a:t>Администратор</a:t>
            </a:r>
            <a:endParaRPr/>
          </a:p>
        </p:txBody>
      </p:sp>
      <p:sp>
        <p:nvSpPr>
          <p:cNvPr id="78" name="Google Shape;78;p10"/>
          <p:cNvSpPr/>
          <p:nvPr/>
        </p:nvSpPr>
        <p:spPr>
          <a:xfrm>
            <a:off x="8267700" y="3752850"/>
            <a:ext cx="3257550" cy="1466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8243C"/>
                </a:solidFill>
              </a:rPr>
              <a:t>Проверяет участников, управляет доступом и смотрит состояние платформы.</a:t>
            </a:r>
            <a:endParaRPr/>
          </a:p>
        </p:txBody>
      </p:sp>
      <p:sp>
        <p:nvSpPr>
          <p:cNvPr id="79" name="Google Shape;79;p10"/>
          <p:cNvSpPr/>
          <p:nvPr/>
        </p:nvSpPr>
        <p:spPr>
          <a:xfrm>
            <a:off x="647700" y="323850"/>
            <a:ext cx="723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8243C"/>
                </a:solidFill>
              </a:rPr>
              <a:t>drop</a:t>
            </a:r>
            <a:endParaRPr/>
          </a:p>
        </p:txBody>
      </p:sp>
      <p:sp>
        <p:nvSpPr>
          <p:cNvPr id="80" name="Google Shape;80;p10"/>
          <p:cNvSpPr/>
          <p:nvPr/>
        </p:nvSpPr>
        <p:spPr>
          <a:xfrm>
            <a:off x="1194000" y="323888"/>
            <a:ext cx="666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285BEB"/>
                </a:solidFill>
              </a:rPr>
              <a:t>crm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/>
          <p:nvPr/>
        </p:nvSpPr>
        <p:spPr>
          <a:xfrm>
            <a:off x="647700" y="742950"/>
            <a:ext cx="10896600" cy="19050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1"/>
          <p:cNvSpPr/>
          <p:nvPr/>
        </p:nvSpPr>
        <p:spPr>
          <a:xfrm>
            <a:off x="647700" y="962025"/>
            <a:ext cx="3048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85BEB"/>
                </a:solidFill>
              </a:rPr>
              <a:t>СЦЕНАРИЙ</a:t>
            </a:r>
            <a:endParaRPr/>
          </a:p>
        </p:txBody>
      </p:sp>
      <p:sp>
        <p:nvSpPr>
          <p:cNvPr id="88" name="Google Shape;88;p11"/>
          <p:cNvSpPr/>
          <p:nvPr/>
        </p:nvSpPr>
        <p:spPr>
          <a:xfrm>
            <a:off x="647700" y="1285875"/>
            <a:ext cx="105727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18243C"/>
                </a:solidFill>
              </a:rPr>
              <a:t>Путь одного заказа</a:t>
            </a:r>
            <a:endParaRPr/>
          </a:p>
        </p:txBody>
      </p:sp>
      <p:sp>
        <p:nvSpPr>
          <p:cNvPr id="89" name="Google Shape;89;p11"/>
          <p:cNvSpPr/>
          <p:nvPr/>
        </p:nvSpPr>
        <p:spPr>
          <a:xfrm>
            <a:off x="647700" y="6134100"/>
            <a:ext cx="10896600" cy="19050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1"/>
          <p:cNvSpPr/>
          <p:nvPr/>
        </p:nvSpPr>
        <p:spPr>
          <a:xfrm>
            <a:off x="11049000" y="62865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738096"/>
                </a:solidFill>
              </a:rPr>
              <a:t>04</a:t>
            </a:r>
            <a:endParaRPr/>
          </a:p>
        </p:txBody>
      </p:sp>
      <p:sp>
        <p:nvSpPr>
          <p:cNvPr id="91" name="Google Shape;91;p11"/>
          <p:cNvSpPr/>
          <p:nvPr/>
        </p:nvSpPr>
        <p:spPr>
          <a:xfrm>
            <a:off x="647700" y="2514600"/>
            <a:ext cx="1619250" cy="704850"/>
          </a:xfrm>
          <a:prstGeom prst="roundRect">
            <a:avLst>
              <a:gd fmla="val 10811" name="adj"/>
            </a:avLst>
          </a:prstGeom>
          <a:solidFill>
            <a:srgbClr val="EDF2FF"/>
          </a:solidFill>
          <a:ln cap="flat" cmpd="sng" w="9525">
            <a:solidFill>
              <a:srgbClr val="DF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1"/>
          <p:cNvSpPr/>
          <p:nvPr/>
        </p:nvSpPr>
        <p:spPr>
          <a:xfrm>
            <a:off x="771525" y="2562225"/>
            <a:ext cx="3333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285BEB"/>
                </a:solidFill>
              </a:rPr>
              <a:t>1</a:t>
            </a:r>
            <a:endParaRPr/>
          </a:p>
        </p:txBody>
      </p:sp>
      <p:sp>
        <p:nvSpPr>
          <p:cNvPr id="93" name="Google Shape;93;p11"/>
          <p:cNvSpPr/>
          <p:nvPr/>
        </p:nvSpPr>
        <p:spPr>
          <a:xfrm>
            <a:off x="762000" y="2838450"/>
            <a:ext cx="13906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8243C"/>
                </a:solidFill>
              </a:rPr>
              <a:t>Предложение</a:t>
            </a:r>
            <a:endParaRPr/>
          </a:p>
        </p:txBody>
      </p:sp>
      <p:sp>
        <p:nvSpPr>
          <p:cNvPr id="94" name="Google Shape;94;p11"/>
          <p:cNvSpPr/>
          <p:nvPr/>
        </p:nvSpPr>
        <p:spPr>
          <a:xfrm>
            <a:off x="2276475" y="2857500"/>
            <a:ext cx="180975" cy="28575"/>
          </a:xfrm>
          <a:prstGeom prst="rect">
            <a:avLst/>
          </a:prstGeom>
          <a:solidFill>
            <a:srgbClr val="285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1"/>
          <p:cNvSpPr/>
          <p:nvPr/>
        </p:nvSpPr>
        <p:spPr>
          <a:xfrm>
            <a:off x="2457450" y="2514600"/>
            <a:ext cx="1619250" cy="704850"/>
          </a:xfrm>
          <a:prstGeom prst="roundRect">
            <a:avLst>
              <a:gd fmla="val 10811" name="adj"/>
            </a:avLst>
          </a:prstGeom>
          <a:solidFill>
            <a:srgbClr val="EDF2FF"/>
          </a:solidFill>
          <a:ln cap="flat" cmpd="sng" w="9525">
            <a:solidFill>
              <a:srgbClr val="DF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1"/>
          <p:cNvSpPr/>
          <p:nvPr/>
        </p:nvSpPr>
        <p:spPr>
          <a:xfrm>
            <a:off x="2581275" y="2562225"/>
            <a:ext cx="3333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285BEB"/>
                </a:solidFill>
              </a:rPr>
              <a:t>2</a:t>
            </a:r>
            <a:endParaRPr/>
          </a:p>
        </p:txBody>
      </p:sp>
      <p:sp>
        <p:nvSpPr>
          <p:cNvPr id="97" name="Google Shape;97;p11"/>
          <p:cNvSpPr/>
          <p:nvPr/>
        </p:nvSpPr>
        <p:spPr>
          <a:xfrm>
            <a:off x="2571750" y="2838450"/>
            <a:ext cx="13906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8243C"/>
                </a:solidFill>
              </a:rPr>
              <a:t>Наценка</a:t>
            </a:r>
            <a:endParaRPr/>
          </a:p>
        </p:txBody>
      </p:sp>
      <p:sp>
        <p:nvSpPr>
          <p:cNvPr id="98" name="Google Shape;98;p11"/>
          <p:cNvSpPr/>
          <p:nvPr/>
        </p:nvSpPr>
        <p:spPr>
          <a:xfrm>
            <a:off x="4086225" y="2857500"/>
            <a:ext cx="180975" cy="28575"/>
          </a:xfrm>
          <a:prstGeom prst="rect">
            <a:avLst/>
          </a:prstGeom>
          <a:solidFill>
            <a:srgbClr val="285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1"/>
          <p:cNvSpPr/>
          <p:nvPr/>
        </p:nvSpPr>
        <p:spPr>
          <a:xfrm>
            <a:off x="4267200" y="2514600"/>
            <a:ext cx="1619250" cy="704850"/>
          </a:xfrm>
          <a:prstGeom prst="roundRect">
            <a:avLst>
              <a:gd fmla="val 10811" name="adj"/>
            </a:avLst>
          </a:prstGeom>
          <a:solidFill>
            <a:srgbClr val="EDF2FF"/>
          </a:solidFill>
          <a:ln cap="flat" cmpd="sng" w="9525">
            <a:solidFill>
              <a:srgbClr val="DF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1"/>
          <p:cNvSpPr/>
          <p:nvPr/>
        </p:nvSpPr>
        <p:spPr>
          <a:xfrm>
            <a:off x="4391025" y="2562225"/>
            <a:ext cx="3333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285BEB"/>
                </a:solidFill>
              </a:rPr>
              <a:t>3</a:t>
            </a:r>
            <a:endParaRPr/>
          </a:p>
        </p:txBody>
      </p:sp>
      <p:sp>
        <p:nvSpPr>
          <p:cNvPr id="101" name="Google Shape;101;p11"/>
          <p:cNvSpPr/>
          <p:nvPr/>
        </p:nvSpPr>
        <p:spPr>
          <a:xfrm>
            <a:off x="4381500" y="2838450"/>
            <a:ext cx="13906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8243C"/>
                </a:solidFill>
              </a:rPr>
              <a:t>Заказ</a:t>
            </a:r>
            <a:endParaRPr/>
          </a:p>
        </p:txBody>
      </p:sp>
      <p:sp>
        <p:nvSpPr>
          <p:cNvPr id="102" name="Google Shape;102;p11"/>
          <p:cNvSpPr/>
          <p:nvPr/>
        </p:nvSpPr>
        <p:spPr>
          <a:xfrm>
            <a:off x="5895975" y="2857500"/>
            <a:ext cx="180975" cy="28575"/>
          </a:xfrm>
          <a:prstGeom prst="rect">
            <a:avLst/>
          </a:prstGeom>
          <a:solidFill>
            <a:srgbClr val="285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1"/>
          <p:cNvSpPr/>
          <p:nvPr/>
        </p:nvSpPr>
        <p:spPr>
          <a:xfrm>
            <a:off x="6076950" y="2514600"/>
            <a:ext cx="1619250" cy="704850"/>
          </a:xfrm>
          <a:prstGeom prst="roundRect">
            <a:avLst>
              <a:gd fmla="val 10811" name="adj"/>
            </a:avLst>
          </a:prstGeom>
          <a:solidFill>
            <a:srgbClr val="FFFFFF"/>
          </a:solidFill>
          <a:ln cap="flat" cmpd="sng" w="9525">
            <a:solidFill>
              <a:srgbClr val="DF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1"/>
          <p:cNvSpPr/>
          <p:nvPr/>
        </p:nvSpPr>
        <p:spPr>
          <a:xfrm>
            <a:off x="6200775" y="2562225"/>
            <a:ext cx="3333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285BEB"/>
                </a:solidFill>
              </a:rPr>
              <a:t>4</a:t>
            </a:r>
            <a:endParaRPr/>
          </a:p>
        </p:txBody>
      </p:sp>
      <p:sp>
        <p:nvSpPr>
          <p:cNvPr id="105" name="Google Shape;105;p11"/>
          <p:cNvSpPr/>
          <p:nvPr/>
        </p:nvSpPr>
        <p:spPr>
          <a:xfrm>
            <a:off x="6191250" y="2838450"/>
            <a:ext cx="13906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8243C"/>
                </a:solidFill>
              </a:rPr>
              <a:t>Подтверждение</a:t>
            </a:r>
            <a:endParaRPr/>
          </a:p>
        </p:txBody>
      </p:sp>
      <p:sp>
        <p:nvSpPr>
          <p:cNvPr id="106" name="Google Shape;106;p11"/>
          <p:cNvSpPr/>
          <p:nvPr/>
        </p:nvSpPr>
        <p:spPr>
          <a:xfrm>
            <a:off x="7705725" y="2857500"/>
            <a:ext cx="180975" cy="28575"/>
          </a:xfrm>
          <a:prstGeom prst="rect">
            <a:avLst/>
          </a:prstGeom>
          <a:solidFill>
            <a:srgbClr val="285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1"/>
          <p:cNvSpPr/>
          <p:nvPr/>
        </p:nvSpPr>
        <p:spPr>
          <a:xfrm>
            <a:off x="7886700" y="2514600"/>
            <a:ext cx="1619250" cy="704850"/>
          </a:xfrm>
          <a:prstGeom prst="roundRect">
            <a:avLst>
              <a:gd fmla="val 10811" name="adj"/>
            </a:avLst>
          </a:prstGeom>
          <a:solidFill>
            <a:srgbClr val="FFFFFF"/>
          </a:solidFill>
          <a:ln cap="flat" cmpd="sng" w="9525">
            <a:solidFill>
              <a:srgbClr val="DF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1"/>
          <p:cNvSpPr/>
          <p:nvPr/>
        </p:nvSpPr>
        <p:spPr>
          <a:xfrm>
            <a:off x="8010525" y="2562225"/>
            <a:ext cx="3333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285BEB"/>
                </a:solidFill>
              </a:rPr>
              <a:t>5</a:t>
            </a:r>
            <a:endParaRPr/>
          </a:p>
        </p:txBody>
      </p:sp>
      <p:sp>
        <p:nvSpPr>
          <p:cNvPr id="109" name="Google Shape;109;p11"/>
          <p:cNvSpPr/>
          <p:nvPr/>
        </p:nvSpPr>
        <p:spPr>
          <a:xfrm>
            <a:off x="8001000" y="2838450"/>
            <a:ext cx="13906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8243C"/>
                </a:solidFill>
              </a:rPr>
              <a:t>Оплата</a:t>
            </a:r>
            <a:endParaRPr/>
          </a:p>
        </p:txBody>
      </p:sp>
      <p:sp>
        <p:nvSpPr>
          <p:cNvPr id="110" name="Google Shape;110;p11"/>
          <p:cNvSpPr/>
          <p:nvPr/>
        </p:nvSpPr>
        <p:spPr>
          <a:xfrm>
            <a:off x="9515475" y="2857500"/>
            <a:ext cx="180975" cy="28575"/>
          </a:xfrm>
          <a:prstGeom prst="rect">
            <a:avLst/>
          </a:prstGeom>
          <a:solidFill>
            <a:srgbClr val="285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1"/>
          <p:cNvSpPr/>
          <p:nvPr/>
        </p:nvSpPr>
        <p:spPr>
          <a:xfrm>
            <a:off x="9696450" y="2514600"/>
            <a:ext cx="1619250" cy="704850"/>
          </a:xfrm>
          <a:prstGeom prst="roundRect">
            <a:avLst>
              <a:gd fmla="val 10811" name="adj"/>
            </a:avLst>
          </a:prstGeom>
          <a:solidFill>
            <a:srgbClr val="FFFFFF"/>
          </a:solidFill>
          <a:ln cap="flat" cmpd="sng" w="9525">
            <a:solidFill>
              <a:srgbClr val="DFE6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1"/>
          <p:cNvSpPr/>
          <p:nvPr/>
        </p:nvSpPr>
        <p:spPr>
          <a:xfrm>
            <a:off x="9820275" y="2562225"/>
            <a:ext cx="3333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285BEB"/>
                </a:solidFill>
              </a:rPr>
              <a:t>6</a:t>
            </a:r>
            <a:endParaRPr/>
          </a:p>
        </p:txBody>
      </p:sp>
      <p:sp>
        <p:nvSpPr>
          <p:cNvPr id="113" name="Google Shape;113;p11"/>
          <p:cNvSpPr/>
          <p:nvPr/>
        </p:nvSpPr>
        <p:spPr>
          <a:xfrm>
            <a:off x="9810750" y="2838450"/>
            <a:ext cx="13906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18243C"/>
                </a:solidFill>
              </a:rPr>
              <a:t>Отправление</a:t>
            </a:r>
            <a:endParaRPr/>
          </a:p>
        </p:txBody>
      </p:sp>
      <p:sp>
        <p:nvSpPr>
          <p:cNvPr id="114" name="Google Shape;114;p11"/>
          <p:cNvSpPr/>
          <p:nvPr/>
        </p:nvSpPr>
        <p:spPr>
          <a:xfrm>
            <a:off x="647700" y="3562350"/>
            <a:ext cx="48196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85BEB"/>
                </a:solidFill>
              </a:rPr>
              <a:t>Дропшиппер</a:t>
            </a:r>
            <a:endParaRPr/>
          </a:p>
        </p:txBody>
      </p:sp>
      <p:sp>
        <p:nvSpPr>
          <p:cNvPr id="115" name="Google Shape;115;p11"/>
          <p:cNvSpPr/>
          <p:nvPr/>
        </p:nvSpPr>
        <p:spPr>
          <a:xfrm>
            <a:off x="6143625" y="3562350"/>
            <a:ext cx="48196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85BEB"/>
                </a:solidFill>
              </a:rPr>
              <a:t>Поставщик</a:t>
            </a:r>
            <a:endParaRPr/>
          </a:p>
        </p:txBody>
      </p:sp>
      <p:sp>
        <p:nvSpPr>
          <p:cNvPr id="116" name="Google Shape;116;p11"/>
          <p:cNvSpPr/>
          <p:nvPr/>
        </p:nvSpPr>
        <p:spPr>
          <a:xfrm>
            <a:off x="647700" y="4067175"/>
            <a:ext cx="4819650" cy="885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8243C"/>
                </a:solidFill>
              </a:rPr>
              <a:t>Выбирает товар → задаёт наценку → оформляет заказ</a:t>
            </a:r>
            <a:endParaRPr/>
          </a:p>
        </p:txBody>
      </p:sp>
      <p:sp>
        <p:nvSpPr>
          <p:cNvPr id="117" name="Google Shape;117;p11"/>
          <p:cNvSpPr/>
          <p:nvPr/>
        </p:nvSpPr>
        <p:spPr>
          <a:xfrm>
            <a:off x="6143625" y="4067175"/>
            <a:ext cx="5143500" cy="1095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18243C"/>
                </a:solidFill>
              </a:rPr>
              <a:t>Подтверждает наличие и доставку → получает оплаченный заказ → указывает отправление</a:t>
            </a:r>
            <a:endParaRPr/>
          </a:p>
        </p:txBody>
      </p:sp>
      <p:sp>
        <p:nvSpPr>
          <p:cNvPr id="118" name="Google Shape;118;p11"/>
          <p:cNvSpPr/>
          <p:nvPr/>
        </p:nvSpPr>
        <p:spPr>
          <a:xfrm>
            <a:off x="5924550" y="3533775"/>
            <a:ext cx="19050" cy="1733550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1"/>
          <p:cNvSpPr/>
          <p:nvPr/>
        </p:nvSpPr>
        <p:spPr>
          <a:xfrm>
            <a:off x="647700" y="5448300"/>
            <a:ext cx="10668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18243C"/>
                </a:solidFill>
              </a:rPr>
              <a:t>Оплата открывается только после подтверждения поставщика.</a:t>
            </a:r>
            <a:endParaRPr/>
          </a:p>
        </p:txBody>
      </p:sp>
      <p:sp>
        <p:nvSpPr>
          <p:cNvPr id="120" name="Google Shape;120;p11"/>
          <p:cNvSpPr/>
          <p:nvPr/>
        </p:nvSpPr>
        <p:spPr>
          <a:xfrm>
            <a:off x="647700" y="323850"/>
            <a:ext cx="723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8243C"/>
                </a:solidFill>
              </a:rPr>
              <a:t>drop</a:t>
            </a:r>
            <a:endParaRPr/>
          </a:p>
        </p:txBody>
      </p:sp>
      <p:sp>
        <p:nvSpPr>
          <p:cNvPr id="121" name="Google Shape;121;p11"/>
          <p:cNvSpPr/>
          <p:nvPr/>
        </p:nvSpPr>
        <p:spPr>
          <a:xfrm>
            <a:off x="1194000" y="323888"/>
            <a:ext cx="666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285BEB"/>
                </a:solidFill>
              </a:rPr>
              <a:t>crm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2"/>
          <p:cNvSpPr/>
          <p:nvPr/>
        </p:nvSpPr>
        <p:spPr>
          <a:xfrm>
            <a:off x="647700" y="742950"/>
            <a:ext cx="10896600" cy="19050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2"/>
          <p:cNvSpPr/>
          <p:nvPr/>
        </p:nvSpPr>
        <p:spPr>
          <a:xfrm>
            <a:off x="647700" y="962025"/>
            <a:ext cx="3048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85BEB"/>
                </a:solidFill>
              </a:rPr>
              <a:t>ДРОПШИППЕР</a:t>
            </a:r>
            <a:endParaRPr/>
          </a:p>
        </p:txBody>
      </p:sp>
      <p:sp>
        <p:nvSpPr>
          <p:cNvPr id="129" name="Google Shape;129;p12"/>
          <p:cNvSpPr/>
          <p:nvPr/>
        </p:nvSpPr>
        <p:spPr>
          <a:xfrm>
            <a:off x="647700" y="1285875"/>
            <a:ext cx="105727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18243C"/>
                </a:solidFill>
              </a:rPr>
              <a:t>Каталог предложений</a:t>
            </a:r>
            <a:endParaRPr/>
          </a:p>
        </p:txBody>
      </p:sp>
      <p:sp>
        <p:nvSpPr>
          <p:cNvPr id="130" name="Google Shape;130;p12"/>
          <p:cNvSpPr/>
          <p:nvPr/>
        </p:nvSpPr>
        <p:spPr>
          <a:xfrm>
            <a:off x="647700" y="6134100"/>
            <a:ext cx="10896600" cy="19050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2"/>
          <p:cNvSpPr/>
          <p:nvPr/>
        </p:nvSpPr>
        <p:spPr>
          <a:xfrm>
            <a:off x="11049000" y="62865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738096"/>
                </a:solidFill>
              </a:rPr>
              <a:t>05</a:t>
            </a:r>
            <a:endParaRPr/>
          </a:p>
        </p:txBody>
      </p:sp>
      <p:sp>
        <p:nvSpPr>
          <p:cNvPr id="132" name="Google Shape;132;p12"/>
          <p:cNvSpPr/>
          <p:nvPr/>
        </p:nvSpPr>
        <p:spPr>
          <a:xfrm>
            <a:off x="647700" y="2219325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85BEB"/>
                </a:solidFill>
              </a:rPr>
              <a:t>1</a:t>
            </a:r>
            <a:endParaRPr/>
          </a:p>
        </p:txBody>
      </p:sp>
      <p:sp>
        <p:nvSpPr>
          <p:cNvPr id="133" name="Google Shape;133;p12"/>
          <p:cNvSpPr/>
          <p:nvPr/>
        </p:nvSpPr>
        <p:spPr>
          <a:xfrm>
            <a:off x="1200150" y="2219325"/>
            <a:ext cx="40957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18243C"/>
                </a:solidFill>
              </a:rPr>
              <a:t>Выбрать товар</a:t>
            </a:r>
            <a:endParaRPr/>
          </a:p>
        </p:txBody>
      </p:sp>
      <p:sp>
        <p:nvSpPr>
          <p:cNvPr id="134" name="Google Shape;134;p12"/>
          <p:cNvSpPr/>
          <p:nvPr/>
        </p:nvSpPr>
        <p:spPr>
          <a:xfrm>
            <a:off x="647700" y="2924175"/>
            <a:ext cx="476250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18243C"/>
                </a:solidFill>
              </a:rPr>
              <a:t>В общем каталоге видны название, поставщик, цена и доступный остаток. Поиск и фильтры помогают открыть нужное предложение.</a:t>
            </a:r>
            <a:endParaRPr/>
          </a:p>
        </p:txBody>
      </p:sp>
      <p:sp>
        <p:nvSpPr>
          <p:cNvPr id="135" name="Google Shape;135;p12"/>
          <p:cNvSpPr/>
          <p:nvPr/>
        </p:nvSpPr>
        <p:spPr>
          <a:xfrm>
            <a:off x="647700" y="4810125"/>
            <a:ext cx="1381125" cy="342900"/>
          </a:xfrm>
          <a:prstGeom prst="roundRect">
            <a:avLst>
              <a:gd fmla="val 22222" name="adj"/>
            </a:avLst>
          </a:prstGeom>
          <a:solidFill>
            <a:srgbClr val="ED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2"/>
          <p:cNvSpPr/>
          <p:nvPr/>
        </p:nvSpPr>
        <p:spPr>
          <a:xfrm>
            <a:off x="742950" y="4848225"/>
            <a:ext cx="11906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85BEB"/>
                </a:solidFill>
              </a:rPr>
              <a:t>TechSupply</a:t>
            </a:r>
            <a:endParaRPr/>
          </a:p>
        </p:txBody>
      </p:sp>
      <p:sp>
        <p:nvSpPr>
          <p:cNvPr id="137" name="Google Shape;137;p12"/>
          <p:cNvSpPr/>
          <p:nvPr/>
        </p:nvSpPr>
        <p:spPr>
          <a:xfrm>
            <a:off x="2152650" y="4810125"/>
            <a:ext cx="1352550" cy="342900"/>
          </a:xfrm>
          <a:prstGeom prst="roundRect">
            <a:avLst>
              <a:gd fmla="val 22222" name="adj"/>
            </a:avLst>
          </a:prstGeom>
          <a:solidFill>
            <a:srgbClr val="ED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2"/>
          <p:cNvSpPr/>
          <p:nvPr/>
        </p:nvSpPr>
        <p:spPr>
          <a:xfrm>
            <a:off x="2247900" y="4848225"/>
            <a:ext cx="11620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285BEB"/>
                </a:solidFill>
              </a:rPr>
              <a:t>SKU 100245</a:t>
            </a:r>
            <a:endParaRPr/>
          </a:p>
        </p:txBody>
      </p:sp>
      <p:sp>
        <p:nvSpPr>
          <p:cNvPr id="139" name="Google Shape;139;p12"/>
          <p:cNvSpPr/>
          <p:nvPr/>
        </p:nvSpPr>
        <p:spPr>
          <a:xfrm>
            <a:off x="5972175" y="2295525"/>
            <a:ext cx="5410200" cy="285750"/>
          </a:xfrm>
          <a:prstGeom prst="rect">
            <a:avLst/>
          </a:prstGeom>
          <a:solidFill>
            <a:srgbClr val="ED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2"/>
          <p:cNvSpPr/>
          <p:nvPr/>
        </p:nvSpPr>
        <p:spPr>
          <a:xfrm>
            <a:off x="6076950" y="2314575"/>
            <a:ext cx="52006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85BEB"/>
                </a:solidFill>
              </a:rPr>
              <a:t>МЕСТО ДЛЯ СКРИНШОТА</a:t>
            </a:r>
            <a:endParaRPr/>
          </a:p>
        </p:txBody>
      </p:sp>
      <p:sp>
        <p:nvSpPr>
          <p:cNvPr id="141" name="Google Shape;141;p12"/>
          <p:cNvSpPr/>
          <p:nvPr/>
        </p:nvSpPr>
        <p:spPr>
          <a:xfrm>
            <a:off x="6076950" y="3095625"/>
            <a:ext cx="52006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8243C"/>
                </a:solidFill>
              </a:rPr>
              <a:t>Общий каталог</a:t>
            </a:r>
            <a:endParaRPr/>
          </a:p>
        </p:txBody>
      </p:sp>
      <p:sp>
        <p:nvSpPr>
          <p:cNvPr id="142" name="Google Shape;142;p12"/>
          <p:cNvSpPr/>
          <p:nvPr/>
        </p:nvSpPr>
        <p:spPr>
          <a:xfrm>
            <a:off x="6076950" y="3695700"/>
            <a:ext cx="52006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738096"/>
                </a:solidFill>
              </a:rPr>
              <a:t>Откройте роль дропшиппера → «Каталог предложений». В кадре должны быть поиск и строка «Беспроводные наушники» TechSupply.</a:t>
            </a:r>
            <a:endParaRPr/>
          </a:p>
        </p:txBody>
      </p:sp>
      <p:sp>
        <p:nvSpPr>
          <p:cNvPr id="143" name="Google Shape;143;p12"/>
          <p:cNvSpPr/>
          <p:nvPr/>
        </p:nvSpPr>
        <p:spPr>
          <a:xfrm>
            <a:off x="6076950" y="5267325"/>
            <a:ext cx="52006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738096"/>
                </a:solidFill>
              </a:rPr>
              <a:t>Замените этот прямоугольник изображением из HTML-прототипа</a:t>
            </a:r>
            <a:endParaRPr/>
          </a:p>
        </p:txBody>
      </p:sp>
      <p:sp>
        <p:nvSpPr>
          <p:cNvPr id="144" name="Google Shape;144;p12"/>
          <p:cNvSpPr/>
          <p:nvPr/>
        </p:nvSpPr>
        <p:spPr>
          <a:xfrm>
            <a:off x="647700" y="323850"/>
            <a:ext cx="723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8243C"/>
                </a:solidFill>
              </a:rPr>
              <a:t>drop</a:t>
            </a:r>
            <a:endParaRPr/>
          </a:p>
        </p:txBody>
      </p:sp>
      <p:sp>
        <p:nvSpPr>
          <p:cNvPr id="145" name="Google Shape;145;p12"/>
          <p:cNvSpPr/>
          <p:nvPr/>
        </p:nvSpPr>
        <p:spPr>
          <a:xfrm>
            <a:off x="1194000" y="323888"/>
            <a:ext cx="666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285BEB"/>
                </a:solidFill>
              </a:rPr>
              <a:t>crm</a:t>
            </a:r>
            <a:endParaRPr/>
          </a:p>
        </p:txBody>
      </p:sp>
      <p:pic>
        <p:nvPicPr>
          <p:cNvPr id="146" name="Google Shape;146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0200" y="1850496"/>
            <a:ext cx="6134098" cy="3833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"/>
          <p:cNvSpPr/>
          <p:nvPr/>
        </p:nvSpPr>
        <p:spPr>
          <a:xfrm>
            <a:off x="647700" y="742950"/>
            <a:ext cx="10896600" cy="19050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3"/>
          <p:cNvSpPr/>
          <p:nvPr/>
        </p:nvSpPr>
        <p:spPr>
          <a:xfrm>
            <a:off x="647700" y="962025"/>
            <a:ext cx="3048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85BEB"/>
                </a:solidFill>
              </a:rPr>
              <a:t>ДРОПШИППЕР</a:t>
            </a:r>
            <a:endParaRPr/>
          </a:p>
        </p:txBody>
      </p:sp>
      <p:sp>
        <p:nvSpPr>
          <p:cNvPr id="154" name="Google Shape;154;p13"/>
          <p:cNvSpPr/>
          <p:nvPr/>
        </p:nvSpPr>
        <p:spPr>
          <a:xfrm>
            <a:off x="647700" y="1285875"/>
            <a:ext cx="105727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18243C"/>
                </a:solidFill>
              </a:rPr>
              <a:t>Наценка и личный каталог</a:t>
            </a:r>
            <a:endParaRPr/>
          </a:p>
        </p:txBody>
      </p:sp>
      <p:sp>
        <p:nvSpPr>
          <p:cNvPr id="155" name="Google Shape;155;p13"/>
          <p:cNvSpPr/>
          <p:nvPr/>
        </p:nvSpPr>
        <p:spPr>
          <a:xfrm>
            <a:off x="647700" y="6134100"/>
            <a:ext cx="10896600" cy="19050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3"/>
          <p:cNvSpPr/>
          <p:nvPr/>
        </p:nvSpPr>
        <p:spPr>
          <a:xfrm>
            <a:off x="11049000" y="62865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738096"/>
                </a:solidFill>
              </a:rPr>
              <a:t>06</a:t>
            </a:r>
            <a:endParaRPr/>
          </a:p>
        </p:txBody>
      </p:sp>
      <p:sp>
        <p:nvSpPr>
          <p:cNvPr id="157" name="Google Shape;157;p13"/>
          <p:cNvSpPr/>
          <p:nvPr/>
        </p:nvSpPr>
        <p:spPr>
          <a:xfrm>
            <a:off x="647700" y="2219325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85BEB"/>
                </a:solidFill>
              </a:rPr>
              <a:t>2</a:t>
            </a:r>
            <a:endParaRPr/>
          </a:p>
        </p:txBody>
      </p:sp>
      <p:sp>
        <p:nvSpPr>
          <p:cNvPr id="158" name="Google Shape;158;p13"/>
          <p:cNvSpPr/>
          <p:nvPr/>
        </p:nvSpPr>
        <p:spPr>
          <a:xfrm>
            <a:off x="1200150" y="2219325"/>
            <a:ext cx="4572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8243C"/>
                </a:solidFill>
              </a:rPr>
              <a:t>Сформировать цену продажи</a:t>
            </a:r>
            <a:endParaRPr/>
          </a:p>
        </p:txBody>
      </p:sp>
      <p:sp>
        <p:nvSpPr>
          <p:cNvPr id="159" name="Google Shape;159;p13"/>
          <p:cNvSpPr/>
          <p:nvPr/>
        </p:nvSpPr>
        <p:spPr>
          <a:xfrm>
            <a:off x="647700" y="3076575"/>
            <a:ext cx="24288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18243C"/>
                </a:solidFill>
              </a:rPr>
              <a:t>1 890 ₽</a:t>
            </a:r>
            <a:endParaRPr/>
          </a:p>
        </p:txBody>
      </p:sp>
      <p:sp>
        <p:nvSpPr>
          <p:cNvPr id="160" name="Google Shape;160;p13"/>
          <p:cNvSpPr/>
          <p:nvPr/>
        </p:nvSpPr>
        <p:spPr>
          <a:xfrm>
            <a:off x="3133725" y="3076575"/>
            <a:ext cx="19526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285BEB"/>
                </a:solidFill>
              </a:rPr>
              <a:t>× 1,25</a:t>
            </a:r>
            <a:endParaRPr/>
          </a:p>
        </p:txBody>
      </p:sp>
      <p:sp>
        <p:nvSpPr>
          <p:cNvPr id="161" name="Google Shape;161;p13"/>
          <p:cNvSpPr/>
          <p:nvPr/>
        </p:nvSpPr>
        <p:spPr>
          <a:xfrm>
            <a:off x="647700" y="3819525"/>
            <a:ext cx="4476750" cy="19050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3"/>
          <p:cNvSpPr/>
          <p:nvPr/>
        </p:nvSpPr>
        <p:spPr>
          <a:xfrm>
            <a:off x="647700" y="3971925"/>
            <a:ext cx="44767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25">
                <a:solidFill>
                  <a:srgbClr val="285BEB"/>
                </a:solidFill>
              </a:rPr>
              <a:t>2 363 ₽</a:t>
            </a:r>
            <a:endParaRPr/>
          </a:p>
        </p:txBody>
      </p:sp>
      <p:sp>
        <p:nvSpPr>
          <p:cNvPr id="163" name="Google Shape;163;p13"/>
          <p:cNvSpPr/>
          <p:nvPr/>
        </p:nvSpPr>
        <p:spPr>
          <a:xfrm>
            <a:off x="647700" y="4914900"/>
            <a:ext cx="4762500" cy="923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8243C"/>
                </a:solidFill>
              </a:rPr>
              <a:t>Цена на экране после округления 2 362,50 ₽. Наценка относится к товару дропшиппера и не меняет цену поставщика.</a:t>
            </a:r>
            <a:endParaRPr/>
          </a:p>
        </p:txBody>
      </p:sp>
      <p:sp>
        <p:nvSpPr>
          <p:cNvPr id="164" name="Google Shape;164;p13"/>
          <p:cNvSpPr/>
          <p:nvPr/>
        </p:nvSpPr>
        <p:spPr>
          <a:xfrm>
            <a:off x="5972175" y="2295525"/>
            <a:ext cx="5410200" cy="285750"/>
          </a:xfrm>
          <a:prstGeom prst="rect">
            <a:avLst/>
          </a:prstGeom>
          <a:solidFill>
            <a:srgbClr val="ED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3"/>
          <p:cNvSpPr/>
          <p:nvPr/>
        </p:nvSpPr>
        <p:spPr>
          <a:xfrm>
            <a:off x="6076950" y="2314575"/>
            <a:ext cx="52006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85BEB"/>
                </a:solidFill>
              </a:rPr>
              <a:t>МЕСТО ДЛЯ СКРИНШОТА</a:t>
            </a:r>
            <a:endParaRPr/>
          </a:p>
        </p:txBody>
      </p:sp>
      <p:sp>
        <p:nvSpPr>
          <p:cNvPr id="166" name="Google Shape;166;p13"/>
          <p:cNvSpPr/>
          <p:nvPr/>
        </p:nvSpPr>
        <p:spPr>
          <a:xfrm>
            <a:off x="6076950" y="3095625"/>
            <a:ext cx="52006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8243C"/>
                </a:solidFill>
              </a:rPr>
              <a:t>Карточка товара / наценка</a:t>
            </a:r>
            <a:endParaRPr/>
          </a:p>
        </p:txBody>
      </p:sp>
      <p:sp>
        <p:nvSpPr>
          <p:cNvPr id="167" name="Google Shape;167;p13"/>
          <p:cNvSpPr/>
          <p:nvPr/>
        </p:nvSpPr>
        <p:spPr>
          <a:xfrm>
            <a:off x="6076950" y="3695700"/>
            <a:ext cx="52006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738096"/>
                </a:solidFill>
              </a:rPr>
              <a:t>Откройте предложение наушников и модальное окно настройки наценки 25%. Покажите цену поставщика и рассчитанную цену продажи.</a:t>
            </a:r>
            <a:endParaRPr/>
          </a:p>
        </p:txBody>
      </p:sp>
      <p:sp>
        <p:nvSpPr>
          <p:cNvPr id="168" name="Google Shape;168;p13"/>
          <p:cNvSpPr/>
          <p:nvPr/>
        </p:nvSpPr>
        <p:spPr>
          <a:xfrm>
            <a:off x="647700" y="323850"/>
            <a:ext cx="723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8243C"/>
                </a:solidFill>
              </a:rPr>
              <a:t>drop</a:t>
            </a:r>
            <a:endParaRPr/>
          </a:p>
        </p:txBody>
      </p:sp>
      <p:sp>
        <p:nvSpPr>
          <p:cNvPr id="169" name="Google Shape;169;p13"/>
          <p:cNvSpPr/>
          <p:nvPr/>
        </p:nvSpPr>
        <p:spPr>
          <a:xfrm>
            <a:off x="1194000" y="323888"/>
            <a:ext cx="666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285BEB"/>
                </a:solidFill>
              </a:rPr>
              <a:t>crm</a:t>
            </a:r>
            <a:endParaRPr/>
          </a:p>
        </p:txBody>
      </p:sp>
      <p:pic>
        <p:nvPicPr>
          <p:cNvPr id="170" name="Google Shape;17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9300" y="2024525"/>
            <a:ext cx="5448300" cy="3413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/>
          <p:cNvSpPr/>
          <p:nvPr/>
        </p:nvSpPr>
        <p:spPr>
          <a:xfrm>
            <a:off x="647700" y="742950"/>
            <a:ext cx="10896600" cy="19050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4"/>
          <p:cNvSpPr/>
          <p:nvPr/>
        </p:nvSpPr>
        <p:spPr>
          <a:xfrm>
            <a:off x="647700" y="962025"/>
            <a:ext cx="3048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85BEB"/>
                </a:solidFill>
              </a:rPr>
              <a:t>ДРОПШИППЕР</a:t>
            </a:r>
            <a:endParaRPr/>
          </a:p>
        </p:txBody>
      </p:sp>
      <p:sp>
        <p:nvSpPr>
          <p:cNvPr id="178" name="Google Shape;178;p14"/>
          <p:cNvSpPr/>
          <p:nvPr/>
        </p:nvSpPr>
        <p:spPr>
          <a:xfrm>
            <a:off x="647700" y="1285875"/>
            <a:ext cx="105727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18243C"/>
                </a:solidFill>
              </a:rPr>
              <a:t>Оформление заказа DC-0102</a:t>
            </a:r>
            <a:endParaRPr/>
          </a:p>
        </p:txBody>
      </p:sp>
      <p:sp>
        <p:nvSpPr>
          <p:cNvPr id="179" name="Google Shape;179;p14"/>
          <p:cNvSpPr/>
          <p:nvPr/>
        </p:nvSpPr>
        <p:spPr>
          <a:xfrm>
            <a:off x="647700" y="6134100"/>
            <a:ext cx="10896600" cy="19050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4"/>
          <p:cNvSpPr/>
          <p:nvPr/>
        </p:nvSpPr>
        <p:spPr>
          <a:xfrm>
            <a:off x="11049000" y="62865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738096"/>
                </a:solidFill>
              </a:rPr>
              <a:t>07</a:t>
            </a:r>
            <a:endParaRPr/>
          </a:p>
        </p:txBody>
      </p:sp>
      <p:sp>
        <p:nvSpPr>
          <p:cNvPr id="181" name="Google Shape;181;p14"/>
          <p:cNvSpPr/>
          <p:nvPr/>
        </p:nvSpPr>
        <p:spPr>
          <a:xfrm>
            <a:off x="647700" y="2219325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85BEB"/>
                </a:solidFill>
              </a:rPr>
              <a:t>3</a:t>
            </a:r>
            <a:endParaRPr/>
          </a:p>
        </p:txBody>
      </p:sp>
      <p:sp>
        <p:nvSpPr>
          <p:cNvPr id="182" name="Google Shape;182;p14"/>
          <p:cNvSpPr/>
          <p:nvPr/>
        </p:nvSpPr>
        <p:spPr>
          <a:xfrm>
            <a:off x="1200150" y="2219325"/>
            <a:ext cx="4524375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8243C"/>
                </a:solidFill>
              </a:rPr>
              <a:t>Передать заказ поставщику</a:t>
            </a:r>
            <a:endParaRPr/>
          </a:p>
        </p:txBody>
      </p:sp>
      <p:sp>
        <p:nvSpPr>
          <p:cNvPr id="183" name="Google Shape;183;p14"/>
          <p:cNvSpPr/>
          <p:nvPr/>
        </p:nvSpPr>
        <p:spPr>
          <a:xfrm>
            <a:off x="647700" y="2943225"/>
            <a:ext cx="4762500" cy="1352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18243C"/>
                </a:solidFill>
              </a:rPr>
              <a:t>Один заказ – один поставщик. Дропшиппер указывает количество и получателя. После отправки заказ получает номер DC-010</a:t>
            </a:r>
            <a:r>
              <a:rPr lang="en-US" sz="1725">
                <a:solidFill>
                  <a:srgbClr val="18243C"/>
                </a:solidFill>
              </a:rPr>
              <a:t>2</a:t>
            </a:r>
            <a:r>
              <a:rPr b="0" lang="en-US" sz="1725">
                <a:solidFill>
                  <a:srgbClr val="18243C"/>
                </a:solidFill>
              </a:rPr>
              <a:t>.</a:t>
            </a:r>
            <a:endParaRPr/>
          </a:p>
        </p:txBody>
      </p:sp>
      <p:sp>
        <p:nvSpPr>
          <p:cNvPr id="184" name="Google Shape;184;p14"/>
          <p:cNvSpPr/>
          <p:nvPr/>
        </p:nvSpPr>
        <p:spPr>
          <a:xfrm>
            <a:off x="647700" y="4676775"/>
            <a:ext cx="4667250" cy="752475"/>
          </a:xfrm>
          <a:prstGeom prst="roundRect">
            <a:avLst>
              <a:gd fmla="val 10127" name="adj"/>
            </a:avLst>
          </a:prstGeom>
          <a:solidFill>
            <a:srgbClr val="FFF4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4"/>
          <p:cNvSpPr/>
          <p:nvPr/>
        </p:nvSpPr>
        <p:spPr>
          <a:xfrm>
            <a:off x="838200" y="4810125"/>
            <a:ext cx="4238625" cy="295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B57410"/>
                </a:solidFill>
              </a:rPr>
              <a:t>Ожидает подтверждения</a:t>
            </a:r>
            <a:endParaRPr/>
          </a:p>
        </p:txBody>
      </p:sp>
      <p:sp>
        <p:nvSpPr>
          <p:cNvPr id="186" name="Google Shape;186;p14"/>
          <p:cNvSpPr/>
          <p:nvPr/>
        </p:nvSpPr>
        <p:spPr>
          <a:xfrm>
            <a:off x="838200" y="5143500"/>
            <a:ext cx="4238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B57410"/>
                </a:solidFill>
              </a:rPr>
              <a:t>Доставка ещё не рассчитана, оплата недоступна</a:t>
            </a:r>
            <a:endParaRPr/>
          </a:p>
        </p:txBody>
      </p:sp>
      <p:sp>
        <p:nvSpPr>
          <p:cNvPr id="187" name="Google Shape;187;p14"/>
          <p:cNvSpPr/>
          <p:nvPr/>
        </p:nvSpPr>
        <p:spPr>
          <a:xfrm>
            <a:off x="5972175" y="2295525"/>
            <a:ext cx="5410200" cy="285750"/>
          </a:xfrm>
          <a:prstGeom prst="rect">
            <a:avLst/>
          </a:prstGeom>
          <a:solidFill>
            <a:srgbClr val="ED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4"/>
          <p:cNvSpPr/>
          <p:nvPr/>
        </p:nvSpPr>
        <p:spPr>
          <a:xfrm>
            <a:off x="6076950" y="2314575"/>
            <a:ext cx="52006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85BEB"/>
                </a:solidFill>
              </a:rPr>
              <a:t>МЕСТО ДЛЯ СКРИНШОТА</a:t>
            </a:r>
            <a:endParaRPr/>
          </a:p>
        </p:txBody>
      </p:sp>
      <p:sp>
        <p:nvSpPr>
          <p:cNvPr id="189" name="Google Shape;189;p14"/>
          <p:cNvSpPr/>
          <p:nvPr/>
        </p:nvSpPr>
        <p:spPr>
          <a:xfrm>
            <a:off x="6076950" y="3095625"/>
            <a:ext cx="52006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8243C"/>
                </a:solidFill>
              </a:rPr>
              <a:t>Заказ DC-0101</a:t>
            </a:r>
            <a:endParaRPr/>
          </a:p>
        </p:txBody>
      </p:sp>
      <p:sp>
        <p:nvSpPr>
          <p:cNvPr id="190" name="Google Shape;190;p14"/>
          <p:cNvSpPr/>
          <p:nvPr/>
        </p:nvSpPr>
        <p:spPr>
          <a:xfrm>
            <a:off x="6076950" y="3695700"/>
            <a:ext cx="52006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738096"/>
                </a:solidFill>
              </a:rPr>
              <a:t>Откройте список или карточку заказа дропшиппера. В кадре должны быть номер DC-0101 и состояние до подтверждения поставщика.</a:t>
            </a:r>
            <a:endParaRPr/>
          </a:p>
        </p:txBody>
      </p:sp>
      <p:sp>
        <p:nvSpPr>
          <p:cNvPr id="191" name="Google Shape;191;p14"/>
          <p:cNvSpPr/>
          <p:nvPr/>
        </p:nvSpPr>
        <p:spPr>
          <a:xfrm>
            <a:off x="6076950" y="5267325"/>
            <a:ext cx="52006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738096"/>
                </a:solidFill>
              </a:rPr>
              <a:t>Замените этот прямоугольник изображением из HTML-прототипа</a:t>
            </a:r>
            <a:endParaRPr/>
          </a:p>
        </p:txBody>
      </p:sp>
      <p:sp>
        <p:nvSpPr>
          <p:cNvPr id="192" name="Google Shape;192;p14"/>
          <p:cNvSpPr/>
          <p:nvPr/>
        </p:nvSpPr>
        <p:spPr>
          <a:xfrm>
            <a:off x="647700" y="323850"/>
            <a:ext cx="723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8243C"/>
                </a:solidFill>
              </a:rPr>
              <a:t>drop</a:t>
            </a:r>
            <a:endParaRPr/>
          </a:p>
        </p:txBody>
      </p:sp>
      <p:sp>
        <p:nvSpPr>
          <p:cNvPr id="193" name="Google Shape;193;p14"/>
          <p:cNvSpPr/>
          <p:nvPr/>
        </p:nvSpPr>
        <p:spPr>
          <a:xfrm>
            <a:off x="1194000" y="323888"/>
            <a:ext cx="666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285BEB"/>
                </a:solidFill>
              </a:rPr>
              <a:t>crm</a:t>
            </a:r>
            <a:endParaRPr/>
          </a:p>
        </p:txBody>
      </p:sp>
      <p:pic>
        <p:nvPicPr>
          <p:cNvPr id="194" name="Google Shape;1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9800" y="1933575"/>
            <a:ext cx="5819776" cy="39527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5"/>
          <p:cNvSpPr/>
          <p:nvPr/>
        </p:nvSpPr>
        <p:spPr>
          <a:xfrm>
            <a:off x="647700" y="742950"/>
            <a:ext cx="10896600" cy="19050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5"/>
          <p:cNvSpPr/>
          <p:nvPr/>
        </p:nvSpPr>
        <p:spPr>
          <a:xfrm>
            <a:off x="647700" y="962025"/>
            <a:ext cx="3048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85BEB"/>
                </a:solidFill>
              </a:rPr>
              <a:t>ПОСТАВЩИК</a:t>
            </a:r>
            <a:endParaRPr/>
          </a:p>
        </p:txBody>
      </p:sp>
      <p:sp>
        <p:nvSpPr>
          <p:cNvPr id="202" name="Google Shape;202;p15"/>
          <p:cNvSpPr/>
          <p:nvPr/>
        </p:nvSpPr>
        <p:spPr>
          <a:xfrm>
            <a:off x="647700" y="1285875"/>
            <a:ext cx="105727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18243C"/>
                </a:solidFill>
              </a:rPr>
              <a:t>Рабочее пространство поставщика</a:t>
            </a:r>
            <a:endParaRPr/>
          </a:p>
        </p:txBody>
      </p:sp>
      <p:sp>
        <p:nvSpPr>
          <p:cNvPr id="203" name="Google Shape;203;p15"/>
          <p:cNvSpPr/>
          <p:nvPr/>
        </p:nvSpPr>
        <p:spPr>
          <a:xfrm>
            <a:off x="647700" y="6134100"/>
            <a:ext cx="10896600" cy="19050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5"/>
          <p:cNvSpPr/>
          <p:nvPr/>
        </p:nvSpPr>
        <p:spPr>
          <a:xfrm>
            <a:off x="11049000" y="62865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738096"/>
                </a:solidFill>
              </a:rPr>
              <a:t>08</a:t>
            </a:r>
            <a:endParaRPr/>
          </a:p>
        </p:txBody>
      </p:sp>
      <p:sp>
        <p:nvSpPr>
          <p:cNvPr id="205" name="Google Shape;205;p15"/>
          <p:cNvSpPr/>
          <p:nvPr/>
        </p:nvSpPr>
        <p:spPr>
          <a:xfrm>
            <a:off x="647700" y="2219325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85BEB"/>
                </a:solidFill>
              </a:rPr>
              <a:t>4</a:t>
            </a:r>
            <a:endParaRPr/>
          </a:p>
        </p:txBody>
      </p:sp>
      <p:sp>
        <p:nvSpPr>
          <p:cNvPr id="206" name="Google Shape;206;p15"/>
          <p:cNvSpPr/>
          <p:nvPr/>
        </p:nvSpPr>
        <p:spPr>
          <a:xfrm>
            <a:off x="1200150" y="2219325"/>
            <a:ext cx="43815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8243C"/>
                </a:solidFill>
              </a:rPr>
              <a:t>Подтвердить условия</a:t>
            </a:r>
            <a:endParaRPr/>
          </a:p>
        </p:txBody>
      </p:sp>
      <p:sp>
        <p:nvSpPr>
          <p:cNvPr id="207" name="Google Shape;207;p15"/>
          <p:cNvSpPr/>
          <p:nvPr/>
        </p:nvSpPr>
        <p:spPr>
          <a:xfrm>
            <a:off x="647700" y="2990850"/>
            <a:ext cx="47625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18243C"/>
                </a:solidFill>
              </a:rPr>
              <a:t>TechSupply получает заказ, проверяет наличие одной пары наушников и указывает стоимость доставки 250 ₽.</a:t>
            </a:r>
            <a:endParaRPr/>
          </a:p>
        </p:txBody>
      </p:sp>
      <p:sp>
        <p:nvSpPr>
          <p:cNvPr id="208" name="Google Shape;208;p15"/>
          <p:cNvSpPr/>
          <p:nvPr/>
        </p:nvSpPr>
        <p:spPr>
          <a:xfrm>
            <a:off x="647700" y="4533900"/>
            <a:ext cx="47625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285BEB"/>
                </a:solidFill>
              </a:rPr>
              <a:t>После подтверждения сумма фиксируется, а дропшиппер получает возможность оплаты.</a:t>
            </a:r>
            <a:endParaRPr/>
          </a:p>
        </p:txBody>
      </p:sp>
      <p:sp>
        <p:nvSpPr>
          <p:cNvPr id="209" name="Google Shape;209;p15"/>
          <p:cNvSpPr/>
          <p:nvPr/>
        </p:nvSpPr>
        <p:spPr>
          <a:xfrm>
            <a:off x="5972175" y="2295525"/>
            <a:ext cx="5410200" cy="285750"/>
          </a:xfrm>
          <a:prstGeom prst="rect">
            <a:avLst/>
          </a:prstGeom>
          <a:solidFill>
            <a:srgbClr val="ED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5"/>
          <p:cNvSpPr/>
          <p:nvPr/>
        </p:nvSpPr>
        <p:spPr>
          <a:xfrm>
            <a:off x="6076950" y="2314575"/>
            <a:ext cx="52006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85BEB"/>
                </a:solidFill>
              </a:rPr>
              <a:t>МЕСТО ДЛЯ СКРИНШОТА</a:t>
            </a:r>
            <a:endParaRPr/>
          </a:p>
        </p:txBody>
      </p:sp>
      <p:sp>
        <p:nvSpPr>
          <p:cNvPr id="211" name="Google Shape;211;p15"/>
          <p:cNvSpPr/>
          <p:nvPr/>
        </p:nvSpPr>
        <p:spPr>
          <a:xfrm>
            <a:off x="6076950" y="3095625"/>
            <a:ext cx="52006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8243C"/>
                </a:solidFill>
              </a:rPr>
              <a:t>Заказ у поставщика</a:t>
            </a:r>
            <a:endParaRPr/>
          </a:p>
        </p:txBody>
      </p:sp>
      <p:sp>
        <p:nvSpPr>
          <p:cNvPr id="212" name="Google Shape;212;p15"/>
          <p:cNvSpPr/>
          <p:nvPr/>
        </p:nvSpPr>
        <p:spPr>
          <a:xfrm>
            <a:off x="6076950" y="3695700"/>
            <a:ext cx="52006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738096"/>
                </a:solidFill>
              </a:rPr>
              <a:t>Откройте роль поставщика → «Заказы» или «Обработка». В кадре покажите DC-0101, подтверждение наличия и доставку 250 ₽.</a:t>
            </a:r>
            <a:endParaRPr/>
          </a:p>
        </p:txBody>
      </p:sp>
      <p:sp>
        <p:nvSpPr>
          <p:cNvPr id="213" name="Google Shape;213;p15"/>
          <p:cNvSpPr/>
          <p:nvPr/>
        </p:nvSpPr>
        <p:spPr>
          <a:xfrm>
            <a:off x="6076950" y="5267325"/>
            <a:ext cx="52006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738096"/>
                </a:solidFill>
              </a:rPr>
              <a:t>Замените этот прямоугольник изображением из HTML-прототипа</a:t>
            </a:r>
            <a:endParaRPr/>
          </a:p>
        </p:txBody>
      </p:sp>
      <p:sp>
        <p:nvSpPr>
          <p:cNvPr id="214" name="Google Shape;214;p15"/>
          <p:cNvSpPr/>
          <p:nvPr/>
        </p:nvSpPr>
        <p:spPr>
          <a:xfrm>
            <a:off x="647700" y="323850"/>
            <a:ext cx="723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8243C"/>
                </a:solidFill>
              </a:rPr>
              <a:t>drop</a:t>
            </a:r>
            <a:endParaRPr/>
          </a:p>
        </p:txBody>
      </p:sp>
      <p:sp>
        <p:nvSpPr>
          <p:cNvPr id="215" name="Google Shape;215;p15"/>
          <p:cNvSpPr/>
          <p:nvPr/>
        </p:nvSpPr>
        <p:spPr>
          <a:xfrm>
            <a:off x="1194000" y="323888"/>
            <a:ext cx="666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285BEB"/>
                </a:solidFill>
              </a:rPr>
              <a:t>crm</a:t>
            </a:r>
            <a:endParaRPr/>
          </a:p>
        </p:txBody>
      </p:sp>
      <p:pic>
        <p:nvPicPr>
          <p:cNvPr id="216" name="Google Shape;2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1650" y="2075350"/>
            <a:ext cx="5695949" cy="35599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8243C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6"/>
          <p:cNvSpPr/>
          <p:nvPr/>
        </p:nvSpPr>
        <p:spPr>
          <a:xfrm>
            <a:off x="647700" y="742950"/>
            <a:ext cx="10896600" cy="19050"/>
          </a:xfrm>
          <a:prstGeom prst="rect">
            <a:avLst/>
          </a:prstGeom>
          <a:solidFill>
            <a:srgbClr val="4051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6"/>
          <p:cNvSpPr/>
          <p:nvPr/>
        </p:nvSpPr>
        <p:spPr>
          <a:xfrm>
            <a:off x="647700" y="962025"/>
            <a:ext cx="3048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8BA7FF"/>
                </a:solidFill>
              </a:rPr>
              <a:t>СЦЕНАРИЙ</a:t>
            </a:r>
            <a:endParaRPr/>
          </a:p>
        </p:txBody>
      </p:sp>
      <p:sp>
        <p:nvSpPr>
          <p:cNvPr id="224" name="Google Shape;224;p16"/>
          <p:cNvSpPr/>
          <p:nvPr/>
        </p:nvSpPr>
        <p:spPr>
          <a:xfrm>
            <a:off x="647700" y="1285875"/>
            <a:ext cx="105727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FFFFFF"/>
                </a:solidFill>
              </a:rPr>
              <a:t>Оплата и отправление</a:t>
            </a:r>
            <a:endParaRPr/>
          </a:p>
        </p:txBody>
      </p:sp>
      <p:sp>
        <p:nvSpPr>
          <p:cNvPr id="225" name="Google Shape;225;p16"/>
          <p:cNvSpPr/>
          <p:nvPr/>
        </p:nvSpPr>
        <p:spPr>
          <a:xfrm>
            <a:off x="647700" y="6134100"/>
            <a:ext cx="10896600" cy="19050"/>
          </a:xfrm>
          <a:prstGeom prst="rect">
            <a:avLst/>
          </a:prstGeom>
          <a:solidFill>
            <a:srgbClr val="4051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6"/>
          <p:cNvSpPr/>
          <p:nvPr/>
        </p:nvSpPr>
        <p:spPr>
          <a:xfrm>
            <a:off x="11049000" y="62865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99A6BF"/>
                </a:solidFill>
              </a:rPr>
              <a:t>09</a:t>
            </a:r>
            <a:endParaRPr/>
          </a:p>
        </p:txBody>
      </p:sp>
      <p:sp>
        <p:nvSpPr>
          <p:cNvPr id="227" name="Google Shape;227;p16"/>
          <p:cNvSpPr/>
          <p:nvPr/>
        </p:nvSpPr>
        <p:spPr>
          <a:xfrm>
            <a:off x="666750" y="2419350"/>
            <a:ext cx="23812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FFFFFF"/>
                </a:solidFill>
              </a:rPr>
              <a:t>1 890 ₽</a:t>
            </a:r>
            <a:endParaRPr/>
          </a:p>
        </p:txBody>
      </p:sp>
      <p:sp>
        <p:nvSpPr>
          <p:cNvPr id="228" name="Google Shape;228;p16"/>
          <p:cNvSpPr/>
          <p:nvPr/>
        </p:nvSpPr>
        <p:spPr>
          <a:xfrm>
            <a:off x="666750" y="3057525"/>
            <a:ext cx="2381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AFC2D5"/>
                </a:solidFill>
              </a:rPr>
              <a:t>товар</a:t>
            </a:r>
            <a:endParaRPr/>
          </a:p>
        </p:txBody>
      </p:sp>
      <p:sp>
        <p:nvSpPr>
          <p:cNvPr id="229" name="Google Shape;229;p16"/>
          <p:cNvSpPr/>
          <p:nvPr/>
        </p:nvSpPr>
        <p:spPr>
          <a:xfrm>
            <a:off x="3790950" y="2419350"/>
            <a:ext cx="23812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FFFFFF"/>
                </a:solidFill>
              </a:rPr>
              <a:t>+ 250 ₽</a:t>
            </a:r>
            <a:endParaRPr/>
          </a:p>
        </p:txBody>
      </p:sp>
      <p:sp>
        <p:nvSpPr>
          <p:cNvPr id="230" name="Google Shape;230;p16"/>
          <p:cNvSpPr/>
          <p:nvPr/>
        </p:nvSpPr>
        <p:spPr>
          <a:xfrm>
            <a:off x="3790950" y="3057525"/>
            <a:ext cx="2381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AFC2D5"/>
                </a:solidFill>
              </a:rPr>
              <a:t>доставка</a:t>
            </a:r>
            <a:endParaRPr/>
          </a:p>
        </p:txBody>
      </p:sp>
      <p:sp>
        <p:nvSpPr>
          <p:cNvPr id="231" name="Google Shape;231;p16"/>
          <p:cNvSpPr/>
          <p:nvPr/>
        </p:nvSpPr>
        <p:spPr>
          <a:xfrm>
            <a:off x="7010400" y="2419350"/>
            <a:ext cx="29527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FFFFFF"/>
                </a:solidFill>
              </a:rPr>
              <a:t>+ 37,80 ₽</a:t>
            </a:r>
            <a:endParaRPr/>
          </a:p>
        </p:txBody>
      </p:sp>
      <p:sp>
        <p:nvSpPr>
          <p:cNvPr id="232" name="Google Shape;232;p16"/>
          <p:cNvSpPr/>
          <p:nvPr/>
        </p:nvSpPr>
        <p:spPr>
          <a:xfrm>
            <a:off x="7010400" y="3057525"/>
            <a:ext cx="2952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AFC2D5"/>
                </a:solidFill>
              </a:rPr>
              <a:t>комиссия 2%</a:t>
            </a:r>
            <a:endParaRPr/>
          </a:p>
        </p:txBody>
      </p:sp>
      <p:sp>
        <p:nvSpPr>
          <p:cNvPr id="233" name="Google Shape;233;p16"/>
          <p:cNvSpPr/>
          <p:nvPr/>
        </p:nvSpPr>
        <p:spPr>
          <a:xfrm>
            <a:off x="666750" y="3648075"/>
            <a:ext cx="10668000" cy="19050"/>
          </a:xfrm>
          <a:prstGeom prst="rect">
            <a:avLst/>
          </a:prstGeom>
          <a:solidFill>
            <a:srgbClr val="4051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6"/>
          <p:cNvSpPr/>
          <p:nvPr/>
        </p:nvSpPr>
        <p:spPr>
          <a:xfrm>
            <a:off x="666750" y="3905250"/>
            <a:ext cx="59055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50">
                <a:solidFill>
                  <a:srgbClr val="AFC2FF"/>
                </a:solidFill>
              </a:rPr>
              <a:t>2 177,80 ₽</a:t>
            </a:r>
            <a:endParaRPr/>
          </a:p>
        </p:txBody>
      </p:sp>
      <p:sp>
        <p:nvSpPr>
          <p:cNvPr id="235" name="Google Shape;235;p16"/>
          <p:cNvSpPr/>
          <p:nvPr/>
        </p:nvSpPr>
        <p:spPr>
          <a:xfrm>
            <a:off x="666750" y="4829175"/>
            <a:ext cx="50482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FFFFFF"/>
                </a:solidFill>
              </a:rPr>
              <a:t>итог оплаты поставки</a:t>
            </a:r>
            <a:endParaRPr/>
          </a:p>
        </p:txBody>
      </p:sp>
      <p:sp>
        <p:nvSpPr>
          <p:cNvPr id="236" name="Google Shape;236;p16"/>
          <p:cNvSpPr/>
          <p:nvPr/>
        </p:nvSpPr>
        <p:spPr>
          <a:xfrm>
            <a:off x="6762750" y="3886200"/>
            <a:ext cx="4476750" cy="1438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FFFFFF"/>
                </a:solidFill>
              </a:rPr>
              <a:t>Успешный платёж переводит заказ в обработку. Затем поставщик добавляет службу доставки, трек-номер и дату отправления.</a:t>
            </a:r>
            <a:endParaRPr/>
          </a:p>
        </p:txBody>
      </p:sp>
      <p:sp>
        <p:nvSpPr>
          <p:cNvPr id="237" name="Google Shape;237;p16"/>
          <p:cNvSpPr/>
          <p:nvPr/>
        </p:nvSpPr>
        <p:spPr>
          <a:xfrm>
            <a:off x="647700" y="323850"/>
            <a:ext cx="723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FFFFFF"/>
                </a:solidFill>
              </a:rPr>
              <a:t>drop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38" name="Google Shape;238;p16"/>
          <p:cNvSpPr/>
          <p:nvPr/>
        </p:nvSpPr>
        <p:spPr>
          <a:xfrm>
            <a:off x="1194000" y="323888"/>
            <a:ext cx="666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285BEB"/>
                </a:solidFill>
              </a:rPr>
              <a:t>crm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7"/>
          <p:cNvSpPr/>
          <p:nvPr/>
        </p:nvSpPr>
        <p:spPr>
          <a:xfrm>
            <a:off x="647700" y="742950"/>
            <a:ext cx="10896600" cy="19050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7"/>
          <p:cNvSpPr/>
          <p:nvPr/>
        </p:nvSpPr>
        <p:spPr>
          <a:xfrm>
            <a:off x="647700" y="962025"/>
            <a:ext cx="3048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85BEB"/>
                </a:solidFill>
              </a:rPr>
              <a:t>АДМИНИСТРАТОР</a:t>
            </a:r>
            <a:endParaRPr/>
          </a:p>
        </p:txBody>
      </p:sp>
      <p:sp>
        <p:nvSpPr>
          <p:cNvPr id="246" name="Google Shape;246;p17"/>
          <p:cNvSpPr/>
          <p:nvPr/>
        </p:nvSpPr>
        <p:spPr>
          <a:xfrm>
            <a:off x="647700" y="1285875"/>
            <a:ext cx="105727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18243C"/>
                </a:solidFill>
              </a:rPr>
              <a:t>Контроль участников</a:t>
            </a:r>
            <a:endParaRPr/>
          </a:p>
        </p:txBody>
      </p:sp>
      <p:sp>
        <p:nvSpPr>
          <p:cNvPr id="247" name="Google Shape;247;p17"/>
          <p:cNvSpPr/>
          <p:nvPr/>
        </p:nvSpPr>
        <p:spPr>
          <a:xfrm>
            <a:off x="647700" y="6134100"/>
            <a:ext cx="10896600" cy="19050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7"/>
          <p:cNvSpPr/>
          <p:nvPr/>
        </p:nvSpPr>
        <p:spPr>
          <a:xfrm>
            <a:off x="11049000" y="62865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738096"/>
                </a:solidFill>
              </a:rPr>
              <a:t>10</a:t>
            </a:r>
            <a:endParaRPr/>
          </a:p>
        </p:txBody>
      </p:sp>
      <p:sp>
        <p:nvSpPr>
          <p:cNvPr id="249" name="Google Shape;249;p17"/>
          <p:cNvSpPr/>
          <p:nvPr/>
        </p:nvSpPr>
        <p:spPr>
          <a:xfrm>
            <a:off x="647700" y="2219325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85BEB"/>
                </a:solidFill>
              </a:rPr>
              <a:t>5</a:t>
            </a:r>
            <a:endParaRPr/>
          </a:p>
        </p:txBody>
      </p:sp>
      <p:sp>
        <p:nvSpPr>
          <p:cNvPr id="250" name="Google Shape;250;p17"/>
          <p:cNvSpPr/>
          <p:nvPr/>
        </p:nvSpPr>
        <p:spPr>
          <a:xfrm>
            <a:off x="914450" y="2219250"/>
            <a:ext cx="46197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8243C"/>
                </a:solidFill>
              </a:rPr>
              <a:t>Открыть карточку пользователя</a:t>
            </a:r>
            <a:endParaRPr/>
          </a:p>
        </p:txBody>
      </p:sp>
      <p:sp>
        <p:nvSpPr>
          <p:cNvPr id="251" name="Google Shape;251;p17"/>
          <p:cNvSpPr/>
          <p:nvPr/>
        </p:nvSpPr>
        <p:spPr>
          <a:xfrm>
            <a:off x="647700" y="2981325"/>
            <a:ext cx="47625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18243C"/>
                </a:solidFill>
              </a:rPr>
              <a:t>Из списка участников администратор открывает профиль пользователя. В карточке собраны сведения об аккаунте, его товарах и заказах.</a:t>
            </a:r>
            <a:endParaRPr/>
          </a:p>
        </p:txBody>
      </p:sp>
      <p:sp>
        <p:nvSpPr>
          <p:cNvPr id="252" name="Google Shape;252;p17"/>
          <p:cNvSpPr/>
          <p:nvPr/>
        </p:nvSpPr>
        <p:spPr>
          <a:xfrm>
            <a:off x="647700" y="4953000"/>
            <a:ext cx="4762500" cy="695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285BEB"/>
                </a:solidFill>
              </a:rPr>
              <a:t>Так связаны доступ к платформе и действия конкретного участника.</a:t>
            </a:r>
            <a:endParaRPr/>
          </a:p>
        </p:txBody>
      </p:sp>
      <p:sp>
        <p:nvSpPr>
          <p:cNvPr id="253" name="Google Shape;253;p17"/>
          <p:cNvSpPr/>
          <p:nvPr/>
        </p:nvSpPr>
        <p:spPr>
          <a:xfrm>
            <a:off x="5972175" y="2295525"/>
            <a:ext cx="5410200" cy="285750"/>
          </a:xfrm>
          <a:prstGeom prst="rect">
            <a:avLst/>
          </a:prstGeom>
          <a:solidFill>
            <a:srgbClr val="ED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7"/>
          <p:cNvSpPr/>
          <p:nvPr/>
        </p:nvSpPr>
        <p:spPr>
          <a:xfrm>
            <a:off x="6076950" y="2314575"/>
            <a:ext cx="52006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85BEB"/>
                </a:solidFill>
              </a:rPr>
              <a:t>МЕСТО ДЛЯ СКРИНШОТА</a:t>
            </a:r>
            <a:endParaRPr/>
          </a:p>
        </p:txBody>
      </p:sp>
      <p:sp>
        <p:nvSpPr>
          <p:cNvPr id="255" name="Google Shape;255;p17"/>
          <p:cNvSpPr/>
          <p:nvPr/>
        </p:nvSpPr>
        <p:spPr>
          <a:xfrm>
            <a:off x="647700" y="323850"/>
            <a:ext cx="723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8243C"/>
                </a:solidFill>
              </a:rPr>
              <a:t>drop</a:t>
            </a:r>
            <a:endParaRPr/>
          </a:p>
        </p:txBody>
      </p:sp>
      <p:sp>
        <p:nvSpPr>
          <p:cNvPr id="256" name="Google Shape;256;p17"/>
          <p:cNvSpPr/>
          <p:nvPr/>
        </p:nvSpPr>
        <p:spPr>
          <a:xfrm>
            <a:off x="1194000" y="323888"/>
            <a:ext cx="666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285BEB"/>
                </a:solidFill>
              </a:rPr>
              <a:t>crm</a:t>
            </a:r>
            <a:endParaRPr/>
          </a:p>
        </p:txBody>
      </p:sp>
      <p:pic>
        <p:nvPicPr>
          <p:cNvPr id="257" name="Google Shape;25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7625" y="1209675"/>
            <a:ext cx="5200650" cy="2046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65477" y="3098375"/>
            <a:ext cx="4324946" cy="303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8"/>
          <p:cNvSpPr/>
          <p:nvPr/>
        </p:nvSpPr>
        <p:spPr>
          <a:xfrm>
            <a:off x="647700" y="742950"/>
            <a:ext cx="10896600" cy="19050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8"/>
          <p:cNvSpPr/>
          <p:nvPr/>
        </p:nvSpPr>
        <p:spPr>
          <a:xfrm>
            <a:off x="647700" y="962025"/>
            <a:ext cx="3048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85BEB"/>
                </a:solidFill>
              </a:rPr>
              <a:t>ОБЗОР</a:t>
            </a:r>
            <a:endParaRPr/>
          </a:p>
        </p:txBody>
      </p:sp>
      <p:sp>
        <p:nvSpPr>
          <p:cNvPr id="266" name="Google Shape;266;p18"/>
          <p:cNvSpPr/>
          <p:nvPr/>
        </p:nvSpPr>
        <p:spPr>
          <a:xfrm>
            <a:off x="647700" y="1285875"/>
            <a:ext cx="105727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18243C"/>
                </a:solidFill>
              </a:rPr>
              <a:t>Статистика по ролям</a:t>
            </a:r>
            <a:endParaRPr/>
          </a:p>
        </p:txBody>
      </p:sp>
      <p:sp>
        <p:nvSpPr>
          <p:cNvPr id="267" name="Google Shape;267;p18"/>
          <p:cNvSpPr/>
          <p:nvPr/>
        </p:nvSpPr>
        <p:spPr>
          <a:xfrm>
            <a:off x="647700" y="6134100"/>
            <a:ext cx="10896600" cy="19050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8"/>
          <p:cNvSpPr/>
          <p:nvPr/>
        </p:nvSpPr>
        <p:spPr>
          <a:xfrm>
            <a:off x="11049000" y="62865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738096"/>
                </a:solidFill>
              </a:rPr>
              <a:t>11</a:t>
            </a:r>
            <a:endParaRPr/>
          </a:p>
        </p:txBody>
      </p:sp>
      <p:sp>
        <p:nvSpPr>
          <p:cNvPr id="269" name="Google Shape;269;p18"/>
          <p:cNvSpPr/>
          <p:nvPr/>
        </p:nvSpPr>
        <p:spPr>
          <a:xfrm>
            <a:off x="647700" y="2314575"/>
            <a:ext cx="4191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285BEB"/>
                </a:solidFill>
              </a:rPr>
              <a:t>Дропшиппер</a:t>
            </a:r>
            <a:endParaRPr/>
          </a:p>
        </p:txBody>
      </p:sp>
      <p:sp>
        <p:nvSpPr>
          <p:cNvPr id="270" name="Google Shape;270;p18"/>
          <p:cNvSpPr/>
          <p:nvPr/>
        </p:nvSpPr>
        <p:spPr>
          <a:xfrm>
            <a:off x="647700" y="2800350"/>
            <a:ext cx="4314825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8243C"/>
                </a:solidFill>
              </a:rPr>
              <a:t>Товары, заказы, оплаченные поставки, расчётная маржа.</a:t>
            </a:r>
            <a:endParaRPr/>
          </a:p>
        </p:txBody>
      </p:sp>
      <p:sp>
        <p:nvSpPr>
          <p:cNvPr id="271" name="Google Shape;271;p18"/>
          <p:cNvSpPr/>
          <p:nvPr/>
        </p:nvSpPr>
        <p:spPr>
          <a:xfrm>
            <a:off x="647700" y="3800475"/>
            <a:ext cx="4191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285BEB"/>
                </a:solidFill>
              </a:rPr>
              <a:t>Поставщик</a:t>
            </a:r>
            <a:endParaRPr/>
          </a:p>
        </p:txBody>
      </p:sp>
      <p:sp>
        <p:nvSpPr>
          <p:cNvPr id="272" name="Google Shape;272;p18"/>
          <p:cNvSpPr/>
          <p:nvPr/>
        </p:nvSpPr>
        <p:spPr>
          <a:xfrm>
            <a:off x="647700" y="4286250"/>
            <a:ext cx="4314825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8243C"/>
                </a:solidFill>
              </a:rPr>
              <a:t>Ассортимент, заказы, оборот по оплаченным заказам.</a:t>
            </a:r>
            <a:endParaRPr/>
          </a:p>
        </p:txBody>
      </p:sp>
      <p:sp>
        <p:nvSpPr>
          <p:cNvPr id="273" name="Google Shape;273;p18"/>
          <p:cNvSpPr/>
          <p:nvPr/>
        </p:nvSpPr>
        <p:spPr>
          <a:xfrm>
            <a:off x="647700" y="5257800"/>
            <a:ext cx="4191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285BEB"/>
                </a:solidFill>
              </a:rPr>
              <a:t>Администратор</a:t>
            </a:r>
            <a:endParaRPr/>
          </a:p>
        </p:txBody>
      </p:sp>
      <p:sp>
        <p:nvSpPr>
          <p:cNvPr id="274" name="Google Shape;274;p18"/>
          <p:cNvSpPr/>
          <p:nvPr/>
        </p:nvSpPr>
        <p:spPr>
          <a:xfrm>
            <a:off x="647700" y="5686425"/>
            <a:ext cx="4762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8243C"/>
                </a:solidFill>
              </a:rPr>
              <a:t>Оборот заказов, комиссия, состояние подписок.</a:t>
            </a:r>
            <a:endParaRPr/>
          </a:p>
        </p:txBody>
      </p:sp>
      <p:sp>
        <p:nvSpPr>
          <p:cNvPr id="275" name="Google Shape;275;p18"/>
          <p:cNvSpPr/>
          <p:nvPr/>
        </p:nvSpPr>
        <p:spPr>
          <a:xfrm>
            <a:off x="5972175" y="2295525"/>
            <a:ext cx="5410200" cy="285750"/>
          </a:xfrm>
          <a:prstGeom prst="rect">
            <a:avLst/>
          </a:prstGeom>
          <a:solidFill>
            <a:srgbClr val="EDF2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8"/>
          <p:cNvSpPr/>
          <p:nvPr/>
        </p:nvSpPr>
        <p:spPr>
          <a:xfrm>
            <a:off x="6076950" y="2314575"/>
            <a:ext cx="52006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85BEB"/>
                </a:solidFill>
              </a:rPr>
              <a:t>МЕСТО ДЛЯ СКРИНШОТА</a:t>
            </a:r>
            <a:endParaRPr/>
          </a:p>
        </p:txBody>
      </p:sp>
      <p:sp>
        <p:nvSpPr>
          <p:cNvPr id="277" name="Google Shape;277;p18"/>
          <p:cNvSpPr/>
          <p:nvPr/>
        </p:nvSpPr>
        <p:spPr>
          <a:xfrm>
            <a:off x="6076950" y="3095625"/>
            <a:ext cx="52006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8243C"/>
                </a:solidFill>
              </a:rPr>
              <a:t>Одна из вкладок статистики</a:t>
            </a:r>
            <a:endParaRPr/>
          </a:p>
        </p:txBody>
      </p:sp>
      <p:sp>
        <p:nvSpPr>
          <p:cNvPr id="278" name="Google Shape;278;p18"/>
          <p:cNvSpPr/>
          <p:nvPr/>
        </p:nvSpPr>
        <p:spPr>
          <a:xfrm>
            <a:off x="6076950" y="3695700"/>
            <a:ext cx="52006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738096"/>
                </a:solidFill>
              </a:rPr>
              <a:t>Предпочтительно экран администратора: общий оборот, комиссия и подписки. Можно заменить обзором статистики другой роли.</a:t>
            </a:r>
            <a:endParaRPr/>
          </a:p>
        </p:txBody>
      </p:sp>
      <p:sp>
        <p:nvSpPr>
          <p:cNvPr id="279" name="Google Shape;279;p18"/>
          <p:cNvSpPr/>
          <p:nvPr/>
        </p:nvSpPr>
        <p:spPr>
          <a:xfrm>
            <a:off x="6076950" y="5267325"/>
            <a:ext cx="52006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738096"/>
                </a:solidFill>
              </a:rPr>
              <a:t>Замените этот прямоугольник изображением из HTML-прототипа</a:t>
            </a:r>
            <a:endParaRPr/>
          </a:p>
        </p:txBody>
      </p:sp>
      <p:sp>
        <p:nvSpPr>
          <p:cNvPr id="280" name="Google Shape;280;p18"/>
          <p:cNvSpPr/>
          <p:nvPr/>
        </p:nvSpPr>
        <p:spPr>
          <a:xfrm>
            <a:off x="647700" y="323850"/>
            <a:ext cx="723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8243C"/>
                </a:solidFill>
              </a:rPr>
              <a:t>drop</a:t>
            </a:r>
            <a:endParaRPr/>
          </a:p>
        </p:txBody>
      </p:sp>
      <p:sp>
        <p:nvSpPr>
          <p:cNvPr id="281" name="Google Shape;281;p18"/>
          <p:cNvSpPr/>
          <p:nvPr/>
        </p:nvSpPr>
        <p:spPr>
          <a:xfrm>
            <a:off x="1194000" y="323888"/>
            <a:ext cx="666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285BEB"/>
                </a:solidFill>
              </a:rPr>
              <a:t>crm</a:t>
            </a:r>
            <a:endParaRPr/>
          </a:p>
        </p:txBody>
      </p:sp>
      <p:pic>
        <p:nvPicPr>
          <p:cNvPr id="282" name="Google Shape;28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305550"/>
            <a:ext cx="859367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8075" y="1554550"/>
            <a:ext cx="6504325" cy="406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9"/>
          <p:cNvSpPr/>
          <p:nvPr/>
        </p:nvSpPr>
        <p:spPr>
          <a:xfrm>
            <a:off x="647700" y="742950"/>
            <a:ext cx="10896600" cy="19050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9"/>
          <p:cNvSpPr/>
          <p:nvPr/>
        </p:nvSpPr>
        <p:spPr>
          <a:xfrm>
            <a:off x="647700" y="962025"/>
            <a:ext cx="3048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85BEB"/>
                </a:solidFill>
              </a:rPr>
              <a:t>ИНТЕРФЕЙС</a:t>
            </a:r>
            <a:endParaRPr/>
          </a:p>
        </p:txBody>
      </p:sp>
      <p:sp>
        <p:nvSpPr>
          <p:cNvPr id="291" name="Google Shape;291;p19"/>
          <p:cNvSpPr/>
          <p:nvPr/>
        </p:nvSpPr>
        <p:spPr>
          <a:xfrm>
            <a:off x="647700" y="1285875"/>
            <a:ext cx="105727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18243C"/>
                </a:solidFill>
              </a:rPr>
              <a:t>Навигация и настройки</a:t>
            </a:r>
            <a:endParaRPr/>
          </a:p>
        </p:txBody>
      </p:sp>
      <p:sp>
        <p:nvSpPr>
          <p:cNvPr id="292" name="Google Shape;292;p19"/>
          <p:cNvSpPr/>
          <p:nvPr/>
        </p:nvSpPr>
        <p:spPr>
          <a:xfrm>
            <a:off x="647700" y="6134100"/>
            <a:ext cx="10896600" cy="19050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9"/>
          <p:cNvSpPr/>
          <p:nvPr/>
        </p:nvSpPr>
        <p:spPr>
          <a:xfrm>
            <a:off x="11049000" y="62865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738096"/>
                </a:solidFill>
              </a:rPr>
              <a:t>12</a:t>
            </a:r>
            <a:endParaRPr/>
          </a:p>
        </p:txBody>
      </p:sp>
      <p:sp>
        <p:nvSpPr>
          <p:cNvPr id="294" name="Google Shape;294;p19"/>
          <p:cNvSpPr/>
          <p:nvPr/>
        </p:nvSpPr>
        <p:spPr>
          <a:xfrm>
            <a:off x="647700" y="2171700"/>
            <a:ext cx="666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285BEB"/>
                </a:solidFill>
              </a:rPr>
              <a:t>01</a:t>
            </a:r>
            <a:endParaRPr/>
          </a:p>
        </p:txBody>
      </p:sp>
      <p:sp>
        <p:nvSpPr>
          <p:cNvPr id="295" name="Google Shape;295;p19"/>
          <p:cNvSpPr/>
          <p:nvPr/>
        </p:nvSpPr>
        <p:spPr>
          <a:xfrm>
            <a:off x="1466850" y="2171700"/>
            <a:ext cx="39528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8243C"/>
                </a:solidFill>
              </a:rPr>
              <a:t>Сворачиваемое меню</a:t>
            </a:r>
            <a:endParaRPr/>
          </a:p>
        </p:txBody>
      </p:sp>
      <p:sp>
        <p:nvSpPr>
          <p:cNvPr id="296" name="Google Shape;296;p19"/>
          <p:cNvSpPr/>
          <p:nvPr/>
        </p:nvSpPr>
        <p:spPr>
          <a:xfrm>
            <a:off x="5619750" y="2152650"/>
            <a:ext cx="5715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8243C"/>
                </a:solidFill>
              </a:rPr>
              <a:t>Основные разделы остаются доступными по значкам.</a:t>
            </a:r>
            <a:endParaRPr/>
          </a:p>
        </p:txBody>
      </p:sp>
      <p:sp>
        <p:nvSpPr>
          <p:cNvPr id="297" name="Google Shape;297;p19"/>
          <p:cNvSpPr/>
          <p:nvPr/>
        </p:nvSpPr>
        <p:spPr>
          <a:xfrm>
            <a:off x="647700" y="3038475"/>
            <a:ext cx="10715625" cy="19050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9"/>
          <p:cNvSpPr/>
          <p:nvPr/>
        </p:nvSpPr>
        <p:spPr>
          <a:xfrm>
            <a:off x="647700" y="3343275"/>
            <a:ext cx="666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285BEB"/>
                </a:solidFill>
              </a:rPr>
              <a:t>02</a:t>
            </a:r>
            <a:endParaRPr/>
          </a:p>
        </p:txBody>
      </p:sp>
      <p:sp>
        <p:nvSpPr>
          <p:cNvPr id="299" name="Google Shape;299;p19"/>
          <p:cNvSpPr/>
          <p:nvPr/>
        </p:nvSpPr>
        <p:spPr>
          <a:xfrm>
            <a:off x="1466850" y="3343275"/>
            <a:ext cx="39528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8243C"/>
                </a:solidFill>
              </a:rPr>
              <a:t>Профиль в верхней панели</a:t>
            </a:r>
            <a:endParaRPr/>
          </a:p>
        </p:txBody>
      </p:sp>
      <p:sp>
        <p:nvSpPr>
          <p:cNvPr id="300" name="Google Shape;300;p19"/>
          <p:cNvSpPr/>
          <p:nvPr/>
        </p:nvSpPr>
        <p:spPr>
          <a:xfrm>
            <a:off x="5619750" y="3324225"/>
            <a:ext cx="5715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8243C"/>
                </a:solidFill>
              </a:rPr>
              <a:t>Сведения об аккаунте и оплаченной подписке открываются по аватару.</a:t>
            </a:r>
            <a:endParaRPr/>
          </a:p>
        </p:txBody>
      </p:sp>
      <p:sp>
        <p:nvSpPr>
          <p:cNvPr id="301" name="Google Shape;301;p19"/>
          <p:cNvSpPr/>
          <p:nvPr/>
        </p:nvSpPr>
        <p:spPr>
          <a:xfrm>
            <a:off x="647700" y="4210050"/>
            <a:ext cx="10715625" cy="19050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9"/>
          <p:cNvSpPr/>
          <p:nvPr/>
        </p:nvSpPr>
        <p:spPr>
          <a:xfrm>
            <a:off x="647700" y="4514850"/>
            <a:ext cx="666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285BEB"/>
                </a:solidFill>
              </a:rPr>
              <a:t>03</a:t>
            </a:r>
            <a:endParaRPr/>
          </a:p>
        </p:txBody>
      </p:sp>
      <p:sp>
        <p:nvSpPr>
          <p:cNvPr id="303" name="Google Shape;303;p19"/>
          <p:cNvSpPr/>
          <p:nvPr/>
        </p:nvSpPr>
        <p:spPr>
          <a:xfrm>
            <a:off x="1466850" y="4514850"/>
            <a:ext cx="39528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8243C"/>
                </a:solidFill>
              </a:rPr>
              <a:t>Светлая и тёмная темы</a:t>
            </a:r>
            <a:endParaRPr/>
          </a:p>
        </p:txBody>
      </p:sp>
      <p:sp>
        <p:nvSpPr>
          <p:cNvPr id="304" name="Google Shape;304;p19"/>
          <p:cNvSpPr/>
          <p:nvPr/>
        </p:nvSpPr>
        <p:spPr>
          <a:xfrm>
            <a:off x="5619750" y="4495800"/>
            <a:ext cx="5715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8243C"/>
                </a:solidFill>
              </a:rPr>
              <a:t>Переключатель расположен рядом с пользователем.</a:t>
            </a:r>
            <a:endParaRPr/>
          </a:p>
        </p:txBody>
      </p:sp>
      <p:sp>
        <p:nvSpPr>
          <p:cNvPr id="305" name="Google Shape;305;p19"/>
          <p:cNvSpPr/>
          <p:nvPr/>
        </p:nvSpPr>
        <p:spPr>
          <a:xfrm>
            <a:off x="647700" y="5381625"/>
            <a:ext cx="10715625" cy="19050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9"/>
          <p:cNvSpPr/>
          <p:nvPr/>
        </p:nvSpPr>
        <p:spPr>
          <a:xfrm>
            <a:off x="647700" y="323850"/>
            <a:ext cx="723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8243C"/>
                </a:solidFill>
              </a:rPr>
              <a:t>drop</a:t>
            </a:r>
            <a:endParaRPr/>
          </a:p>
        </p:txBody>
      </p:sp>
      <p:sp>
        <p:nvSpPr>
          <p:cNvPr id="307" name="Google Shape;307;p19"/>
          <p:cNvSpPr/>
          <p:nvPr/>
        </p:nvSpPr>
        <p:spPr>
          <a:xfrm>
            <a:off x="1194000" y="323888"/>
            <a:ext cx="666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285BEB"/>
                </a:solidFill>
              </a:rPr>
              <a:t>crm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0"/>
          <p:cNvSpPr/>
          <p:nvPr/>
        </p:nvSpPr>
        <p:spPr>
          <a:xfrm>
            <a:off x="647700" y="742950"/>
            <a:ext cx="10896600" cy="19050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0"/>
          <p:cNvSpPr/>
          <p:nvPr/>
        </p:nvSpPr>
        <p:spPr>
          <a:xfrm>
            <a:off x="647700" y="962025"/>
            <a:ext cx="3048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85BEB"/>
                </a:solidFill>
              </a:rPr>
              <a:t>ПРОЕКТИРОВАНИЕ</a:t>
            </a:r>
            <a:endParaRPr/>
          </a:p>
        </p:txBody>
      </p:sp>
      <p:sp>
        <p:nvSpPr>
          <p:cNvPr id="315" name="Google Shape;315;p20"/>
          <p:cNvSpPr/>
          <p:nvPr/>
        </p:nvSpPr>
        <p:spPr>
          <a:xfrm>
            <a:off x="647700" y="1285875"/>
            <a:ext cx="105727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18243C"/>
                </a:solidFill>
              </a:rPr>
              <a:t>Как менялся объём проекта</a:t>
            </a:r>
            <a:endParaRPr/>
          </a:p>
        </p:txBody>
      </p:sp>
      <p:sp>
        <p:nvSpPr>
          <p:cNvPr id="316" name="Google Shape;316;p20"/>
          <p:cNvSpPr/>
          <p:nvPr/>
        </p:nvSpPr>
        <p:spPr>
          <a:xfrm>
            <a:off x="647700" y="6134100"/>
            <a:ext cx="10896600" cy="19050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20"/>
          <p:cNvSpPr/>
          <p:nvPr/>
        </p:nvSpPr>
        <p:spPr>
          <a:xfrm>
            <a:off x="11049000" y="62865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738096"/>
                </a:solidFill>
              </a:rPr>
              <a:t>13</a:t>
            </a:r>
            <a:endParaRPr/>
          </a:p>
        </p:txBody>
      </p:sp>
      <p:sp>
        <p:nvSpPr>
          <p:cNvPr id="318" name="Google Shape;318;p20"/>
          <p:cNvSpPr/>
          <p:nvPr/>
        </p:nvSpPr>
        <p:spPr>
          <a:xfrm>
            <a:off x="647700" y="2238375"/>
            <a:ext cx="4667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285BEB"/>
                </a:solidFill>
              </a:rPr>
              <a:t>Первоначальное ТЗ</a:t>
            </a:r>
            <a:endParaRPr/>
          </a:p>
        </p:txBody>
      </p:sp>
      <p:sp>
        <p:nvSpPr>
          <p:cNvPr id="319" name="Google Shape;319;p20"/>
          <p:cNvSpPr/>
          <p:nvPr/>
        </p:nvSpPr>
        <p:spPr>
          <a:xfrm>
            <a:off x="647700" y="2771775"/>
            <a:ext cx="466725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18243C"/>
                </a:solidFill>
              </a:rPr>
              <a:t>Широкая платформа: несколько позиций в заказе, управление справочниками, серверное хранение, платежи, мобильная версия и другие требования.</a:t>
            </a:r>
            <a:endParaRPr/>
          </a:p>
        </p:txBody>
      </p:sp>
      <p:sp>
        <p:nvSpPr>
          <p:cNvPr id="320" name="Google Shape;320;p20"/>
          <p:cNvSpPr/>
          <p:nvPr/>
        </p:nvSpPr>
        <p:spPr>
          <a:xfrm>
            <a:off x="6029325" y="2219325"/>
            <a:ext cx="19050" cy="2619375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0"/>
          <p:cNvSpPr/>
          <p:nvPr/>
        </p:nvSpPr>
        <p:spPr>
          <a:xfrm>
            <a:off x="6505575" y="2238375"/>
            <a:ext cx="4667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285BEB"/>
                </a:solidFill>
              </a:rPr>
              <a:t>Итоговый прототип</a:t>
            </a:r>
            <a:endParaRPr/>
          </a:p>
        </p:txBody>
      </p:sp>
      <p:sp>
        <p:nvSpPr>
          <p:cNvPr id="322" name="Google Shape;322;p20"/>
          <p:cNvSpPr/>
          <p:nvPr/>
        </p:nvSpPr>
        <p:spPr>
          <a:xfrm>
            <a:off x="6505575" y="2771775"/>
            <a:ext cx="466725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18243C"/>
                </a:solidFill>
              </a:rPr>
              <a:t>Один заказ одному поставщику. Подробно показан путь от предложения до отправления, с тремя рабочими пространствами и отдельными статусами оплаты.</a:t>
            </a:r>
            <a:endParaRPr/>
          </a:p>
        </p:txBody>
      </p:sp>
      <p:sp>
        <p:nvSpPr>
          <p:cNvPr id="323" name="Google Shape;323;p20"/>
          <p:cNvSpPr/>
          <p:nvPr/>
        </p:nvSpPr>
        <p:spPr>
          <a:xfrm>
            <a:off x="647700" y="5381625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18243C"/>
                </a:solidFill>
              </a:rPr>
              <a:t>Исходное ТЗ сохранили как постановку задачи; в отчёте объяснили, что именно вошло в макет.</a:t>
            </a:r>
            <a:endParaRPr/>
          </a:p>
        </p:txBody>
      </p:sp>
      <p:sp>
        <p:nvSpPr>
          <p:cNvPr id="324" name="Google Shape;324;p20"/>
          <p:cNvSpPr/>
          <p:nvPr/>
        </p:nvSpPr>
        <p:spPr>
          <a:xfrm>
            <a:off x="647700" y="323850"/>
            <a:ext cx="723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8243C"/>
                </a:solidFill>
              </a:rPr>
              <a:t>drop</a:t>
            </a:r>
            <a:endParaRPr/>
          </a:p>
        </p:txBody>
      </p:sp>
      <p:sp>
        <p:nvSpPr>
          <p:cNvPr id="325" name="Google Shape;325;p20"/>
          <p:cNvSpPr/>
          <p:nvPr/>
        </p:nvSpPr>
        <p:spPr>
          <a:xfrm>
            <a:off x="1194000" y="323888"/>
            <a:ext cx="666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285BEB"/>
                </a:solidFill>
              </a:rPr>
              <a:t>crm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1"/>
          <p:cNvSpPr/>
          <p:nvPr/>
        </p:nvSpPr>
        <p:spPr>
          <a:xfrm>
            <a:off x="647700" y="742950"/>
            <a:ext cx="10896600" cy="19050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1"/>
          <p:cNvSpPr/>
          <p:nvPr/>
        </p:nvSpPr>
        <p:spPr>
          <a:xfrm>
            <a:off x="647700" y="962025"/>
            <a:ext cx="3048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85BEB"/>
                </a:solidFill>
              </a:rPr>
              <a:t>ПРОЕКТИРОВАНИЕ</a:t>
            </a:r>
            <a:endParaRPr/>
          </a:p>
        </p:txBody>
      </p:sp>
      <p:sp>
        <p:nvSpPr>
          <p:cNvPr id="333" name="Google Shape;333;p21"/>
          <p:cNvSpPr/>
          <p:nvPr/>
        </p:nvSpPr>
        <p:spPr>
          <a:xfrm>
            <a:off x="647700" y="1285875"/>
            <a:ext cx="105727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18243C"/>
                </a:solidFill>
              </a:rPr>
              <a:t>От требований к экранам</a:t>
            </a:r>
            <a:endParaRPr/>
          </a:p>
        </p:txBody>
      </p:sp>
      <p:sp>
        <p:nvSpPr>
          <p:cNvPr id="334" name="Google Shape;334;p21"/>
          <p:cNvSpPr/>
          <p:nvPr/>
        </p:nvSpPr>
        <p:spPr>
          <a:xfrm>
            <a:off x="647700" y="6134100"/>
            <a:ext cx="10896600" cy="19050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1"/>
          <p:cNvSpPr/>
          <p:nvPr/>
        </p:nvSpPr>
        <p:spPr>
          <a:xfrm>
            <a:off x="11049000" y="62865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738096"/>
                </a:solidFill>
              </a:rPr>
              <a:t>14</a:t>
            </a:r>
            <a:endParaRPr/>
          </a:p>
        </p:txBody>
      </p:sp>
      <p:sp>
        <p:nvSpPr>
          <p:cNvPr id="336" name="Google Shape;336;p21"/>
          <p:cNvSpPr/>
          <p:nvPr/>
        </p:nvSpPr>
        <p:spPr>
          <a:xfrm>
            <a:off x="647700" y="2552700"/>
            <a:ext cx="19526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8243C"/>
                </a:solidFill>
              </a:rPr>
              <a:t>ТЗ</a:t>
            </a:r>
            <a:endParaRPr/>
          </a:p>
        </p:txBody>
      </p:sp>
      <p:sp>
        <p:nvSpPr>
          <p:cNvPr id="337" name="Google Shape;337;p21"/>
          <p:cNvSpPr/>
          <p:nvPr/>
        </p:nvSpPr>
        <p:spPr>
          <a:xfrm>
            <a:off x="647700" y="3105150"/>
            <a:ext cx="1952625" cy="28575"/>
          </a:xfrm>
          <a:prstGeom prst="rect">
            <a:avLst/>
          </a:prstGeom>
          <a:solidFill>
            <a:srgbClr val="285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1"/>
          <p:cNvSpPr/>
          <p:nvPr/>
        </p:nvSpPr>
        <p:spPr>
          <a:xfrm>
            <a:off x="647700" y="3324225"/>
            <a:ext cx="19526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738096"/>
                </a:solidFill>
              </a:rPr>
              <a:t>задача и роли</a:t>
            </a:r>
            <a:endParaRPr/>
          </a:p>
        </p:txBody>
      </p:sp>
      <p:sp>
        <p:nvSpPr>
          <p:cNvPr id="339" name="Google Shape;339;p21"/>
          <p:cNvSpPr/>
          <p:nvPr/>
        </p:nvSpPr>
        <p:spPr>
          <a:xfrm>
            <a:off x="2857500" y="2552700"/>
            <a:ext cx="19526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8243C"/>
                </a:solidFill>
              </a:rPr>
              <a:t>Персоны</a:t>
            </a:r>
            <a:endParaRPr/>
          </a:p>
        </p:txBody>
      </p:sp>
      <p:sp>
        <p:nvSpPr>
          <p:cNvPr id="340" name="Google Shape;340;p21"/>
          <p:cNvSpPr/>
          <p:nvPr/>
        </p:nvSpPr>
        <p:spPr>
          <a:xfrm>
            <a:off x="2857500" y="3105150"/>
            <a:ext cx="1952625" cy="28575"/>
          </a:xfrm>
          <a:prstGeom prst="rect">
            <a:avLst/>
          </a:prstGeom>
          <a:solidFill>
            <a:srgbClr val="285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1"/>
          <p:cNvSpPr/>
          <p:nvPr/>
        </p:nvSpPr>
        <p:spPr>
          <a:xfrm>
            <a:off x="2857500" y="3324225"/>
            <a:ext cx="19526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738096"/>
                </a:solidFill>
              </a:rPr>
              <a:t>потребности</a:t>
            </a:r>
            <a:endParaRPr/>
          </a:p>
        </p:txBody>
      </p:sp>
      <p:sp>
        <p:nvSpPr>
          <p:cNvPr id="342" name="Google Shape;342;p21"/>
          <p:cNvSpPr/>
          <p:nvPr/>
        </p:nvSpPr>
        <p:spPr>
          <a:xfrm>
            <a:off x="5067300" y="2552700"/>
            <a:ext cx="19526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8243C"/>
                </a:solidFill>
              </a:rPr>
              <a:t>Истории + UML</a:t>
            </a:r>
            <a:endParaRPr/>
          </a:p>
        </p:txBody>
      </p:sp>
      <p:sp>
        <p:nvSpPr>
          <p:cNvPr id="343" name="Google Shape;343;p21"/>
          <p:cNvSpPr/>
          <p:nvPr/>
        </p:nvSpPr>
        <p:spPr>
          <a:xfrm>
            <a:off x="5067300" y="3105150"/>
            <a:ext cx="1952625" cy="28575"/>
          </a:xfrm>
          <a:prstGeom prst="rect">
            <a:avLst/>
          </a:prstGeom>
          <a:solidFill>
            <a:srgbClr val="285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1"/>
          <p:cNvSpPr/>
          <p:nvPr/>
        </p:nvSpPr>
        <p:spPr>
          <a:xfrm>
            <a:off x="5067300" y="3324225"/>
            <a:ext cx="19526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738096"/>
                </a:solidFill>
              </a:rPr>
              <a:t>действия и правила</a:t>
            </a:r>
            <a:endParaRPr/>
          </a:p>
        </p:txBody>
      </p:sp>
      <p:sp>
        <p:nvSpPr>
          <p:cNvPr id="345" name="Google Shape;345;p21"/>
          <p:cNvSpPr/>
          <p:nvPr/>
        </p:nvSpPr>
        <p:spPr>
          <a:xfrm>
            <a:off x="7277100" y="2552700"/>
            <a:ext cx="19526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8243C"/>
                </a:solidFill>
              </a:rPr>
              <a:t>Вайрфреймы</a:t>
            </a:r>
            <a:endParaRPr/>
          </a:p>
        </p:txBody>
      </p:sp>
      <p:sp>
        <p:nvSpPr>
          <p:cNvPr id="346" name="Google Shape;346;p21"/>
          <p:cNvSpPr/>
          <p:nvPr/>
        </p:nvSpPr>
        <p:spPr>
          <a:xfrm>
            <a:off x="7277100" y="3105150"/>
            <a:ext cx="1952625" cy="28575"/>
          </a:xfrm>
          <a:prstGeom prst="rect">
            <a:avLst/>
          </a:prstGeom>
          <a:solidFill>
            <a:srgbClr val="285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1"/>
          <p:cNvSpPr/>
          <p:nvPr/>
        </p:nvSpPr>
        <p:spPr>
          <a:xfrm>
            <a:off x="7277100" y="3324225"/>
            <a:ext cx="19526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738096"/>
                </a:solidFill>
              </a:rPr>
              <a:t>структура</a:t>
            </a:r>
            <a:endParaRPr/>
          </a:p>
        </p:txBody>
      </p:sp>
      <p:sp>
        <p:nvSpPr>
          <p:cNvPr id="348" name="Google Shape;348;p21"/>
          <p:cNvSpPr/>
          <p:nvPr/>
        </p:nvSpPr>
        <p:spPr>
          <a:xfrm>
            <a:off x="9486900" y="2552700"/>
            <a:ext cx="1952625" cy="447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85BEB"/>
                </a:solidFill>
              </a:rPr>
              <a:t>Figma</a:t>
            </a:r>
            <a:endParaRPr/>
          </a:p>
        </p:txBody>
      </p:sp>
      <p:sp>
        <p:nvSpPr>
          <p:cNvPr id="349" name="Google Shape;349;p21"/>
          <p:cNvSpPr/>
          <p:nvPr/>
        </p:nvSpPr>
        <p:spPr>
          <a:xfrm>
            <a:off x="9486900" y="3105150"/>
            <a:ext cx="1952625" cy="47625"/>
          </a:xfrm>
          <a:prstGeom prst="rect">
            <a:avLst/>
          </a:prstGeom>
          <a:solidFill>
            <a:srgbClr val="285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1"/>
          <p:cNvSpPr/>
          <p:nvPr/>
        </p:nvSpPr>
        <p:spPr>
          <a:xfrm>
            <a:off x="9486900" y="3324225"/>
            <a:ext cx="1952625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738096"/>
                </a:solidFill>
              </a:rPr>
              <a:t>итоговый прототип</a:t>
            </a:r>
            <a:endParaRPr/>
          </a:p>
        </p:txBody>
      </p:sp>
      <p:sp>
        <p:nvSpPr>
          <p:cNvPr id="351" name="Google Shape;351;p21"/>
          <p:cNvSpPr/>
          <p:nvPr/>
        </p:nvSpPr>
        <p:spPr>
          <a:xfrm>
            <a:off x="647700" y="4724400"/>
            <a:ext cx="10572750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8243C"/>
                </a:solidFill>
              </a:rPr>
              <a:t>Каждый следующий материал уточнял решение: что нужно пользователю, что он делает и как это выглядит в интерфейсе.</a:t>
            </a:r>
            <a:endParaRPr/>
          </a:p>
        </p:txBody>
      </p:sp>
      <p:sp>
        <p:nvSpPr>
          <p:cNvPr id="352" name="Google Shape;352;p21"/>
          <p:cNvSpPr/>
          <p:nvPr/>
        </p:nvSpPr>
        <p:spPr>
          <a:xfrm>
            <a:off x="647700" y="323850"/>
            <a:ext cx="723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8243C"/>
                </a:solidFill>
              </a:rPr>
              <a:t>drop</a:t>
            </a:r>
            <a:endParaRPr/>
          </a:p>
        </p:txBody>
      </p:sp>
      <p:sp>
        <p:nvSpPr>
          <p:cNvPr id="353" name="Google Shape;353;p21"/>
          <p:cNvSpPr/>
          <p:nvPr/>
        </p:nvSpPr>
        <p:spPr>
          <a:xfrm>
            <a:off x="1194000" y="323888"/>
            <a:ext cx="666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285BEB"/>
                </a:solidFill>
              </a:rPr>
              <a:t>crm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2"/>
          <p:cNvSpPr/>
          <p:nvPr/>
        </p:nvSpPr>
        <p:spPr>
          <a:xfrm>
            <a:off x="647700" y="742950"/>
            <a:ext cx="10896600" cy="19050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2"/>
          <p:cNvSpPr/>
          <p:nvPr/>
        </p:nvSpPr>
        <p:spPr>
          <a:xfrm>
            <a:off x="647700" y="962025"/>
            <a:ext cx="3048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85BEB"/>
                </a:solidFill>
              </a:rPr>
              <a:t>ИССЛЕДОВАНИЕ</a:t>
            </a:r>
            <a:endParaRPr/>
          </a:p>
        </p:txBody>
      </p:sp>
      <p:sp>
        <p:nvSpPr>
          <p:cNvPr id="361" name="Google Shape;361;p22"/>
          <p:cNvSpPr/>
          <p:nvPr/>
        </p:nvSpPr>
        <p:spPr>
          <a:xfrm>
            <a:off x="647700" y="1285875"/>
            <a:ext cx="105727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18243C"/>
                </a:solidFill>
              </a:rPr>
              <a:t>Проверка удобства</a:t>
            </a:r>
            <a:endParaRPr/>
          </a:p>
        </p:txBody>
      </p:sp>
      <p:sp>
        <p:nvSpPr>
          <p:cNvPr id="362" name="Google Shape;362;p22"/>
          <p:cNvSpPr/>
          <p:nvPr/>
        </p:nvSpPr>
        <p:spPr>
          <a:xfrm>
            <a:off x="647700" y="6134100"/>
            <a:ext cx="10896600" cy="19050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2"/>
          <p:cNvSpPr/>
          <p:nvPr/>
        </p:nvSpPr>
        <p:spPr>
          <a:xfrm>
            <a:off x="11049000" y="62865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738096"/>
                </a:solidFill>
              </a:rPr>
              <a:t>15</a:t>
            </a:r>
            <a:endParaRPr/>
          </a:p>
        </p:txBody>
      </p:sp>
      <p:sp>
        <p:nvSpPr>
          <p:cNvPr id="364" name="Google Shape;364;p22"/>
          <p:cNvSpPr/>
          <p:nvPr/>
        </p:nvSpPr>
        <p:spPr>
          <a:xfrm>
            <a:off x="647700" y="2247900"/>
            <a:ext cx="40957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25">
                <a:solidFill>
                  <a:srgbClr val="285BEB"/>
                </a:solidFill>
              </a:rPr>
              <a:t>2 участника</a:t>
            </a:r>
            <a:endParaRPr/>
          </a:p>
        </p:txBody>
      </p:sp>
      <p:sp>
        <p:nvSpPr>
          <p:cNvPr id="365" name="Google Shape;365;p22"/>
          <p:cNvSpPr/>
          <p:nvPr/>
        </p:nvSpPr>
        <p:spPr>
          <a:xfrm>
            <a:off x="647700" y="2914650"/>
            <a:ext cx="466725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18243C"/>
                </a:solidFill>
              </a:rPr>
              <a:t>Свободное изучение прототипа без заданий и измерения времени</a:t>
            </a:r>
            <a:endParaRPr/>
          </a:p>
        </p:txBody>
      </p:sp>
      <p:sp>
        <p:nvSpPr>
          <p:cNvPr id="366" name="Google Shape;366;p22"/>
          <p:cNvSpPr/>
          <p:nvPr/>
        </p:nvSpPr>
        <p:spPr>
          <a:xfrm>
            <a:off x="6019800" y="2171700"/>
            <a:ext cx="19050" cy="3267075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2"/>
          <p:cNvSpPr/>
          <p:nvPr/>
        </p:nvSpPr>
        <p:spPr>
          <a:xfrm>
            <a:off x="6515100" y="2190750"/>
            <a:ext cx="4667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8243C"/>
                </a:solidFill>
              </a:rPr>
              <a:t>Более опытный участник</a:t>
            </a:r>
            <a:endParaRPr/>
          </a:p>
        </p:txBody>
      </p:sp>
      <p:sp>
        <p:nvSpPr>
          <p:cNvPr id="368" name="Google Shape;368;p22"/>
          <p:cNvSpPr/>
          <p:nvPr/>
        </p:nvSpPr>
        <p:spPr>
          <a:xfrm>
            <a:off x="6515100" y="2676525"/>
            <a:ext cx="46672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8243C"/>
                </a:solidFill>
              </a:rPr>
              <a:t>Исследовал элементы и примерно понял назначение платформы.</a:t>
            </a:r>
            <a:endParaRPr/>
          </a:p>
        </p:txBody>
      </p:sp>
      <p:sp>
        <p:nvSpPr>
          <p:cNvPr id="369" name="Google Shape;369;p22"/>
          <p:cNvSpPr/>
          <p:nvPr/>
        </p:nvSpPr>
        <p:spPr>
          <a:xfrm>
            <a:off x="6515100" y="3676650"/>
            <a:ext cx="4667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8243C"/>
                </a:solidFill>
              </a:rPr>
              <a:t>Менее опытный участник</a:t>
            </a:r>
            <a:endParaRPr/>
          </a:p>
        </p:txBody>
      </p:sp>
      <p:sp>
        <p:nvSpPr>
          <p:cNvPr id="370" name="Google Shape;370;p22"/>
          <p:cNvSpPr/>
          <p:nvPr/>
        </p:nvSpPr>
        <p:spPr>
          <a:xfrm>
            <a:off x="6515100" y="4162425"/>
            <a:ext cx="46672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8243C"/>
                </a:solidFill>
              </a:rPr>
              <a:t>Открывал заметные разделы, но не нажал на профиль и смену темы.</a:t>
            </a:r>
            <a:endParaRPr/>
          </a:p>
        </p:txBody>
      </p:sp>
      <p:sp>
        <p:nvSpPr>
          <p:cNvPr id="371" name="Google Shape;371;p22"/>
          <p:cNvSpPr/>
          <p:nvPr/>
        </p:nvSpPr>
        <p:spPr>
          <a:xfrm>
            <a:off x="647700" y="5314950"/>
            <a:ext cx="104775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85BEB"/>
                </a:solidFill>
              </a:rPr>
              <a:t>Следующая проверка: задачи «найти подписку» и «сменить тему» без подсказки расположения кнопок.</a:t>
            </a:r>
            <a:endParaRPr/>
          </a:p>
        </p:txBody>
      </p:sp>
      <p:sp>
        <p:nvSpPr>
          <p:cNvPr id="372" name="Google Shape;372;p22"/>
          <p:cNvSpPr/>
          <p:nvPr/>
        </p:nvSpPr>
        <p:spPr>
          <a:xfrm>
            <a:off x="647700" y="323850"/>
            <a:ext cx="723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8243C"/>
                </a:solidFill>
              </a:rPr>
              <a:t>drop</a:t>
            </a:r>
            <a:endParaRPr/>
          </a:p>
        </p:txBody>
      </p:sp>
      <p:sp>
        <p:nvSpPr>
          <p:cNvPr id="373" name="Google Shape;373;p22"/>
          <p:cNvSpPr/>
          <p:nvPr/>
        </p:nvSpPr>
        <p:spPr>
          <a:xfrm>
            <a:off x="1194000" y="323888"/>
            <a:ext cx="666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285BEB"/>
                </a:solidFill>
              </a:rPr>
              <a:t>crm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B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3"/>
          <p:cNvSpPr/>
          <p:nvPr/>
        </p:nvSpPr>
        <p:spPr>
          <a:xfrm>
            <a:off x="647700" y="742950"/>
            <a:ext cx="10896600" cy="19050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3"/>
          <p:cNvSpPr/>
          <p:nvPr/>
        </p:nvSpPr>
        <p:spPr>
          <a:xfrm>
            <a:off x="647700" y="962025"/>
            <a:ext cx="3048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285BEB"/>
                </a:solidFill>
              </a:rPr>
              <a:t>КОМАНДА</a:t>
            </a:r>
            <a:endParaRPr/>
          </a:p>
        </p:txBody>
      </p:sp>
      <p:sp>
        <p:nvSpPr>
          <p:cNvPr id="381" name="Google Shape;381;p23"/>
          <p:cNvSpPr/>
          <p:nvPr/>
        </p:nvSpPr>
        <p:spPr>
          <a:xfrm>
            <a:off x="594875" y="1409700"/>
            <a:ext cx="105729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18243C"/>
                </a:solidFill>
              </a:rPr>
              <a:t>Вклад участников</a:t>
            </a:r>
            <a:endParaRPr/>
          </a:p>
        </p:txBody>
      </p:sp>
      <p:sp>
        <p:nvSpPr>
          <p:cNvPr id="382" name="Google Shape;382;p23"/>
          <p:cNvSpPr/>
          <p:nvPr/>
        </p:nvSpPr>
        <p:spPr>
          <a:xfrm>
            <a:off x="647700" y="6134100"/>
            <a:ext cx="10896600" cy="19050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3"/>
          <p:cNvSpPr/>
          <p:nvPr/>
        </p:nvSpPr>
        <p:spPr>
          <a:xfrm>
            <a:off x="11049000" y="62865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738096"/>
                </a:solidFill>
              </a:rPr>
              <a:t>16</a:t>
            </a:r>
            <a:endParaRPr/>
          </a:p>
        </p:txBody>
      </p:sp>
      <p:sp>
        <p:nvSpPr>
          <p:cNvPr id="384" name="Google Shape;384;p23"/>
          <p:cNvSpPr/>
          <p:nvPr/>
        </p:nvSpPr>
        <p:spPr>
          <a:xfrm>
            <a:off x="594863" y="2457488"/>
            <a:ext cx="46674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285BEB"/>
                </a:solidFill>
              </a:rPr>
              <a:t>Олег Яковлев</a:t>
            </a:r>
            <a:endParaRPr/>
          </a:p>
        </p:txBody>
      </p:sp>
      <p:sp>
        <p:nvSpPr>
          <p:cNvPr id="385" name="Google Shape;385;p23"/>
          <p:cNvSpPr/>
          <p:nvPr/>
        </p:nvSpPr>
        <p:spPr>
          <a:xfrm>
            <a:off x="594863" y="2990888"/>
            <a:ext cx="46674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18243C"/>
                </a:solidFill>
              </a:rPr>
              <a:t>Техническое задание. Основная работа над итоговым макетом Figma. Организация и проведение наблюдения за пользователями.</a:t>
            </a:r>
            <a:endParaRPr/>
          </a:p>
        </p:txBody>
      </p:sp>
      <p:sp>
        <p:nvSpPr>
          <p:cNvPr id="386" name="Google Shape;386;p23"/>
          <p:cNvSpPr/>
          <p:nvPr/>
        </p:nvSpPr>
        <p:spPr>
          <a:xfrm>
            <a:off x="5976488" y="2438438"/>
            <a:ext cx="19200" cy="2619300"/>
          </a:xfrm>
          <a:prstGeom prst="rect">
            <a:avLst/>
          </a:prstGeom>
          <a:solidFill>
            <a:srgbClr val="DFE6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3"/>
          <p:cNvSpPr/>
          <p:nvPr/>
        </p:nvSpPr>
        <p:spPr>
          <a:xfrm>
            <a:off x="6452738" y="2457488"/>
            <a:ext cx="46674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285BEB"/>
                </a:solidFill>
              </a:rPr>
              <a:t>Семён Казанцев</a:t>
            </a:r>
            <a:endParaRPr/>
          </a:p>
        </p:txBody>
      </p:sp>
      <p:sp>
        <p:nvSpPr>
          <p:cNvPr id="388" name="Google Shape;388;p23"/>
          <p:cNvSpPr/>
          <p:nvPr/>
        </p:nvSpPr>
        <p:spPr>
          <a:xfrm>
            <a:off x="6452738" y="2990888"/>
            <a:ext cx="46674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25">
                <a:solidFill>
                  <a:srgbClr val="18243C"/>
                </a:solidFill>
              </a:rPr>
              <a:t>Пользовательские истории и портреты, UML, вайрфреймы. Участие в обсуждении и уточнении итогового дизайна.</a:t>
            </a:r>
            <a:endParaRPr/>
          </a:p>
        </p:txBody>
      </p:sp>
      <p:sp>
        <p:nvSpPr>
          <p:cNvPr id="389" name="Google Shape;389;p23"/>
          <p:cNvSpPr/>
          <p:nvPr/>
        </p:nvSpPr>
        <p:spPr>
          <a:xfrm>
            <a:off x="647700" y="323850"/>
            <a:ext cx="723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8243C"/>
                </a:solidFill>
              </a:rPr>
              <a:t>drop</a:t>
            </a:r>
            <a:endParaRPr/>
          </a:p>
        </p:txBody>
      </p:sp>
      <p:sp>
        <p:nvSpPr>
          <p:cNvPr id="390" name="Google Shape;390;p23"/>
          <p:cNvSpPr/>
          <p:nvPr/>
        </p:nvSpPr>
        <p:spPr>
          <a:xfrm>
            <a:off x="1194000" y="323888"/>
            <a:ext cx="666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285BEB"/>
                </a:solidFill>
              </a:rPr>
              <a:t>crm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2435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4"/>
          <p:cNvSpPr/>
          <p:nvPr/>
        </p:nvSpPr>
        <p:spPr>
          <a:xfrm>
            <a:off x="647700" y="742950"/>
            <a:ext cx="10896600" cy="19050"/>
          </a:xfrm>
          <a:prstGeom prst="rect">
            <a:avLst/>
          </a:prstGeom>
          <a:solidFill>
            <a:srgbClr val="4051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4"/>
          <p:cNvSpPr/>
          <p:nvPr/>
        </p:nvSpPr>
        <p:spPr>
          <a:xfrm>
            <a:off x="647700" y="962025"/>
            <a:ext cx="3048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8BA7FF"/>
                </a:solidFill>
              </a:rPr>
              <a:t>ИТОГ</a:t>
            </a:r>
            <a:endParaRPr/>
          </a:p>
        </p:txBody>
      </p:sp>
      <p:sp>
        <p:nvSpPr>
          <p:cNvPr id="398" name="Google Shape;398;p24"/>
          <p:cNvSpPr/>
          <p:nvPr/>
        </p:nvSpPr>
        <p:spPr>
          <a:xfrm>
            <a:off x="647700" y="1285875"/>
            <a:ext cx="105727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FFFFFF"/>
                </a:solidFill>
              </a:rPr>
              <a:t>Что показывает итоговый прототип</a:t>
            </a:r>
            <a:endParaRPr/>
          </a:p>
        </p:txBody>
      </p:sp>
      <p:sp>
        <p:nvSpPr>
          <p:cNvPr id="399" name="Google Shape;399;p24"/>
          <p:cNvSpPr/>
          <p:nvPr/>
        </p:nvSpPr>
        <p:spPr>
          <a:xfrm>
            <a:off x="647700" y="6134100"/>
            <a:ext cx="10896600" cy="19050"/>
          </a:xfrm>
          <a:prstGeom prst="rect">
            <a:avLst/>
          </a:prstGeom>
          <a:solidFill>
            <a:srgbClr val="4051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4"/>
          <p:cNvSpPr/>
          <p:nvPr/>
        </p:nvSpPr>
        <p:spPr>
          <a:xfrm>
            <a:off x="11049000" y="6286500"/>
            <a:ext cx="4572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99A6BF"/>
                </a:solidFill>
              </a:rPr>
              <a:t>17</a:t>
            </a:r>
            <a:endParaRPr/>
          </a:p>
        </p:txBody>
      </p:sp>
      <p:sp>
        <p:nvSpPr>
          <p:cNvPr id="401" name="Google Shape;401;p24"/>
          <p:cNvSpPr/>
          <p:nvPr/>
        </p:nvSpPr>
        <p:spPr>
          <a:xfrm>
            <a:off x="619125" y="2562250"/>
            <a:ext cx="107634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FFFFFF"/>
                </a:solidFill>
              </a:rPr>
              <a:t>Каталог → наценка → заказ → подтверждение → оплата → отправление</a:t>
            </a:r>
            <a:endParaRPr/>
          </a:p>
        </p:txBody>
      </p:sp>
      <p:sp>
        <p:nvSpPr>
          <p:cNvPr id="402" name="Google Shape;402;p24"/>
          <p:cNvSpPr/>
          <p:nvPr/>
        </p:nvSpPr>
        <p:spPr>
          <a:xfrm>
            <a:off x="647700" y="3733800"/>
            <a:ext cx="10706100" cy="19050"/>
          </a:xfrm>
          <a:prstGeom prst="rect">
            <a:avLst/>
          </a:prstGeom>
          <a:solidFill>
            <a:srgbClr val="4051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4"/>
          <p:cNvSpPr/>
          <p:nvPr/>
        </p:nvSpPr>
        <p:spPr>
          <a:xfrm>
            <a:off x="647700" y="5257800"/>
            <a:ext cx="65722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FFFFFF"/>
                </a:solidFill>
              </a:rPr>
              <a:t>Проект DropCRM:</a:t>
            </a:r>
            <a:endParaRPr/>
          </a:p>
        </p:txBody>
      </p:sp>
      <p:sp>
        <p:nvSpPr>
          <p:cNvPr id="404" name="Google Shape;404;p24"/>
          <p:cNvSpPr/>
          <p:nvPr/>
        </p:nvSpPr>
        <p:spPr>
          <a:xfrm>
            <a:off x="647700" y="5676900"/>
            <a:ext cx="7048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AFC2D5"/>
                </a:solidFill>
              </a:rPr>
              <a:t>github.com/wertyqazx/DropCRM</a:t>
            </a:r>
            <a:endParaRPr/>
          </a:p>
        </p:txBody>
      </p:sp>
      <p:sp>
        <p:nvSpPr>
          <p:cNvPr id="405" name="Google Shape;405;p24"/>
          <p:cNvSpPr/>
          <p:nvPr/>
        </p:nvSpPr>
        <p:spPr>
          <a:xfrm>
            <a:off x="647700" y="323850"/>
            <a:ext cx="723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FFFFFF"/>
                </a:solidFill>
              </a:rPr>
              <a:t>drop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06" name="Google Shape;406;p24"/>
          <p:cNvSpPr/>
          <p:nvPr/>
        </p:nvSpPr>
        <p:spPr>
          <a:xfrm>
            <a:off x="1194000" y="323888"/>
            <a:ext cx="666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285BEB"/>
                </a:solidFill>
              </a:rPr>
              <a:t>crm</a:t>
            </a:r>
            <a:endParaRPr/>
          </a:p>
        </p:txBody>
      </p:sp>
      <p:pic>
        <p:nvPicPr>
          <p:cNvPr id="407" name="Google Shape;40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73550" y="4248150"/>
            <a:ext cx="2724150" cy="93345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24"/>
          <p:cNvSpPr txBox="1"/>
          <p:nvPr/>
        </p:nvSpPr>
        <p:spPr>
          <a:xfrm>
            <a:off x="647700" y="4449375"/>
            <a:ext cx="96657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FFFFFF"/>
                </a:solidFill>
              </a:rPr>
              <a:t>Спасибо за внимание! </a:t>
            </a:r>
            <a:r>
              <a:rPr b="1" lang="en-US" sz="2250">
                <a:solidFill>
                  <a:srgbClr val="FFFFFF"/>
                </a:solidFill>
              </a:rPr>
              <a:t>С вами была команда                               .</a:t>
            </a:r>
            <a:endParaRPr sz="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